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57" r:id="rId4"/>
    <p:sldId id="258" r:id="rId5"/>
    <p:sldId id="267" r:id="rId6"/>
    <p:sldId id="259" r:id="rId7"/>
    <p:sldId id="260" r:id="rId8"/>
    <p:sldId id="261" r:id="rId9"/>
    <p:sldId id="262" r:id="rId10"/>
    <p:sldId id="263" r:id="rId11"/>
    <p:sldId id="264" r:id="rId12"/>
    <p:sldId id="265" r:id="rId13"/>
  </p:sldIdLst>
  <p:sldSz cx="18288000" cy="10287000"/>
  <p:notesSz cx="6858000" cy="9144000"/>
  <p:embeddedFontLst>
    <p:embeddedFont>
      <p:font typeface="Inter" panose="020B0604020202020204" charset="0"/>
      <p:regular r:id="rId14"/>
    </p:embeddedFont>
    <p:embeddedFont>
      <p:font typeface="Inter Bold" panose="020B0604020202020204" charset="0"/>
      <p:regular r:id="rId15"/>
    </p:embeddedFont>
    <p:embeddedFont>
      <p:font typeface="Inter Semi-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9.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1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9.png"/></Relationships>
</file>

<file path=ppt/slides/_rels/slide1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1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1351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TextBox 3"/>
          <p:cNvSpPr txBox="1"/>
          <p:nvPr/>
        </p:nvSpPr>
        <p:spPr>
          <a:xfrm>
            <a:off x="737548" y="971564"/>
            <a:ext cx="6612400" cy="3715715"/>
          </a:xfrm>
          <a:prstGeom prst="rect">
            <a:avLst/>
          </a:prstGeom>
        </p:spPr>
        <p:txBody>
          <a:bodyPr lIns="0" tIns="0" rIns="0" bIns="0" rtlCol="0" anchor="t">
            <a:spAutoFit/>
          </a:bodyPr>
          <a:lstStyle/>
          <a:p>
            <a:pPr algn="l">
              <a:lnSpc>
                <a:spcPts val="9653"/>
              </a:lnSpc>
            </a:pPr>
            <a:r>
              <a:rPr lang="en-US" sz="9845" b="1" spc="-394">
                <a:solidFill>
                  <a:srgbClr val="FFFFFF"/>
                </a:solidFill>
                <a:latin typeface="Inter Bold"/>
                <a:ea typeface="Inter Bold"/>
                <a:cs typeface="Inter Bold"/>
                <a:sym typeface="Inter Bold"/>
              </a:rPr>
              <a:t>Consulting </a:t>
            </a:r>
            <a:r>
              <a:rPr lang="en-US" sz="9845" b="1" spc="-394">
                <a:solidFill>
                  <a:srgbClr val="5CB6F9"/>
                </a:solidFill>
                <a:latin typeface="Inter Bold"/>
                <a:ea typeface="Inter Bold"/>
                <a:cs typeface="Inter Bold"/>
                <a:sym typeface="Inter Bold"/>
              </a:rPr>
              <a:t>Intelligence</a:t>
            </a:r>
            <a:r>
              <a:rPr lang="en-US" sz="9845" b="1" spc="-394">
                <a:solidFill>
                  <a:srgbClr val="FFFFFF"/>
                </a:solidFill>
                <a:latin typeface="Inter Bold"/>
                <a:ea typeface="Inter Bold"/>
                <a:cs typeface="Inter Bold"/>
                <a:sym typeface="Inter Bold"/>
              </a:rPr>
              <a:t> Platform</a:t>
            </a:r>
          </a:p>
        </p:txBody>
      </p:sp>
      <p:sp>
        <p:nvSpPr>
          <p:cNvPr id="4" name="Freeform 4"/>
          <p:cNvSpPr/>
          <p:nvPr/>
        </p:nvSpPr>
        <p:spPr>
          <a:xfrm>
            <a:off x="645330" y="4919394"/>
            <a:ext cx="1542230" cy="229572"/>
          </a:xfrm>
          <a:custGeom>
            <a:avLst/>
            <a:gdLst/>
            <a:ahLst/>
            <a:cxnLst/>
            <a:rect l="l" t="t" r="r" b="b"/>
            <a:pathLst>
              <a:path w="1542230" h="229572">
                <a:moveTo>
                  <a:pt x="0" y="0"/>
                </a:moveTo>
                <a:lnTo>
                  <a:pt x="1542230" y="0"/>
                </a:lnTo>
                <a:lnTo>
                  <a:pt x="1542230" y="229572"/>
                </a:lnTo>
                <a:lnTo>
                  <a:pt x="0" y="229572"/>
                </a:lnTo>
                <a:lnTo>
                  <a:pt x="0" y="0"/>
                </a:lnTo>
                <a:close/>
              </a:path>
            </a:pathLst>
          </a:custGeom>
          <a:blipFill>
            <a:blip r:embed="rId3"/>
            <a:stretch>
              <a:fillRect/>
            </a:stretch>
          </a:blipFill>
        </p:spPr>
      </p:sp>
      <p:sp>
        <p:nvSpPr>
          <p:cNvPr id="5" name="TextBox 5"/>
          <p:cNvSpPr txBox="1"/>
          <p:nvPr/>
        </p:nvSpPr>
        <p:spPr>
          <a:xfrm>
            <a:off x="751979" y="5249441"/>
            <a:ext cx="7848184" cy="937640"/>
          </a:xfrm>
          <a:prstGeom prst="rect">
            <a:avLst/>
          </a:prstGeom>
        </p:spPr>
        <p:txBody>
          <a:bodyPr lIns="0" tIns="0" rIns="0" bIns="0" rtlCol="0" anchor="t">
            <a:spAutoFit/>
          </a:bodyPr>
          <a:lstStyle/>
          <a:p>
            <a:pPr algn="l">
              <a:lnSpc>
                <a:spcPts val="3723"/>
              </a:lnSpc>
            </a:pPr>
            <a:r>
              <a:rPr lang="en-US" sz="3102" b="1" spc="-62">
                <a:solidFill>
                  <a:srgbClr val="5CB6F9"/>
                </a:solidFill>
                <a:latin typeface="Inter Semi-Bold"/>
                <a:ea typeface="Inter Semi-Bold"/>
                <a:cs typeface="Inter Semi-Bold"/>
                <a:sym typeface="Inter Semi-Bold"/>
              </a:rPr>
              <a:t>Database Systems Engineering &amp; </a:t>
            </a:r>
          </a:p>
          <a:p>
            <a:pPr algn="l">
              <a:lnSpc>
                <a:spcPts val="3723"/>
              </a:lnSpc>
            </a:pPr>
            <a:r>
              <a:rPr lang="en-US" sz="3102" b="1" spc="-62">
                <a:solidFill>
                  <a:srgbClr val="5CB6F9"/>
                </a:solidFill>
                <a:latin typeface="Inter Semi-Bold"/>
                <a:ea typeface="Inter Semi-Bold"/>
                <a:cs typeface="Inter Semi-Bold"/>
                <a:sym typeface="Inter Semi-Bold"/>
              </a:rPr>
              <a:t>Distributed Backend Development Project</a:t>
            </a:r>
          </a:p>
        </p:txBody>
      </p:sp>
      <p:sp>
        <p:nvSpPr>
          <p:cNvPr id="6" name="TextBox 6"/>
          <p:cNvSpPr txBox="1"/>
          <p:nvPr/>
        </p:nvSpPr>
        <p:spPr>
          <a:xfrm>
            <a:off x="706135" y="6452706"/>
            <a:ext cx="2172040" cy="352534"/>
          </a:xfrm>
          <a:prstGeom prst="rect">
            <a:avLst/>
          </a:prstGeom>
        </p:spPr>
        <p:txBody>
          <a:bodyPr lIns="0" tIns="0" rIns="0" bIns="0" rtlCol="0" anchor="t">
            <a:spAutoFit/>
          </a:bodyPr>
          <a:lstStyle/>
          <a:p>
            <a:pPr algn="l">
              <a:lnSpc>
                <a:spcPts val="2867"/>
              </a:lnSpc>
            </a:pPr>
            <a:r>
              <a:rPr lang="en-US" sz="2047" b="1" spc="-40" dirty="0">
                <a:solidFill>
                  <a:srgbClr val="5CB6F9"/>
                </a:solidFill>
                <a:latin typeface="Inter Bold"/>
                <a:ea typeface="Inter Bold"/>
                <a:cs typeface="Inter Bold"/>
                <a:sym typeface="Inter Bold"/>
              </a:rPr>
              <a:t>TEAM MEMBERS</a:t>
            </a:r>
          </a:p>
        </p:txBody>
      </p:sp>
      <p:sp>
        <p:nvSpPr>
          <p:cNvPr id="7" name="TextBox 7"/>
          <p:cNvSpPr txBox="1"/>
          <p:nvPr/>
        </p:nvSpPr>
        <p:spPr>
          <a:xfrm>
            <a:off x="795520" y="6805240"/>
            <a:ext cx="1962640" cy="2143472"/>
          </a:xfrm>
          <a:prstGeom prst="rect">
            <a:avLst/>
          </a:prstGeom>
        </p:spPr>
        <p:txBody>
          <a:bodyPr lIns="0" tIns="0" rIns="0" bIns="0" rtlCol="0" anchor="t">
            <a:spAutoFit/>
          </a:bodyPr>
          <a:lstStyle/>
          <a:p>
            <a:pPr algn="l">
              <a:lnSpc>
                <a:spcPts val="3360"/>
              </a:lnSpc>
            </a:pPr>
            <a:r>
              <a:rPr lang="en-US" sz="2399" spc="-48" dirty="0">
                <a:solidFill>
                  <a:srgbClr val="FFFFFF">
                    <a:alpha val="84706"/>
                  </a:srgbClr>
                </a:solidFill>
                <a:latin typeface="Inter"/>
                <a:ea typeface="Inter"/>
                <a:cs typeface="Inter"/>
                <a:sym typeface="Inter"/>
              </a:rPr>
              <a:t>2510080003</a:t>
            </a:r>
          </a:p>
          <a:p>
            <a:pPr algn="l">
              <a:lnSpc>
                <a:spcPts val="3360"/>
              </a:lnSpc>
            </a:pPr>
            <a:r>
              <a:rPr lang="en-US" sz="2399" spc="-48" dirty="0">
                <a:solidFill>
                  <a:srgbClr val="FFFFFF">
                    <a:alpha val="84706"/>
                  </a:srgbClr>
                </a:solidFill>
                <a:latin typeface="Inter"/>
                <a:ea typeface="Inter"/>
                <a:cs typeface="Inter"/>
                <a:sym typeface="Inter"/>
              </a:rPr>
              <a:t>2510080018</a:t>
            </a:r>
          </a:p>
          <a:p>
            <a:pPr algn="l">
              <a:lnSpc>
                <a:spcPts val="3360"/>
              </a:lnSpc>
            </a:pPr>
            <a:r>
              <a:rPr lang="en-US" sz="2399" spc="-48" dirty="0">
                <a:solidFill>
                  <a:srgbClr val="FFFFFF">
                    <a:alpha val="84706"/>
                  </a:srgbClr>
                </a:solidFill>
                <a:latin typeface="Inter"/>
                <a:ea typeface="Inter"/>
                <a:cs typeface="Inter"/>
                <a:sym typeface="Inter"/>
              </a:rPr>
              <a:t>2510080021</a:t>
            </a:r>
          </a:p>
          <a:p>
            <a:pPr algn="l">
              <a:lnSpc>
                <a:spcPts val="3360"/>
              </a:lnSpc>
            </a:pPr>
            <a:r>
              <a:rPr lang="en-US" sz="2399" spc="-48" dirty="0">
                <a:solidFill>
                  <a:srgbClr val="FFFFFF">
                    <a:alpha val="84706"/>
                  </a:srgbClr>
                </a:solidFill>
                <a:latin typeface="Inter"/>
                <a:ea typeface="Inter"/>
                <a:cs typeface="Inter"/>
                <a:sym typeface="Inter"/>
              </a:rPr>
              <a:t>2510080038</a:t>
            </a:r>
          </a:p>
          <a:p>
            <a:pPr algn="l">
              <a:lnSpc>
                <a:spcPts val="3360"/>
              </a:lnSpc>
            </a:pPr>
            <a:r>
              <a:rPr lang="en-US" sz="2399" spc="-48" dirty="0">
                <a:solidFill>
                  <a:srgbClr val="FFFFFF">
                    <a:alpha val="84706"/>
                  </a:srgbClr>
                </a:solidFill>
                <a:latin typeface="Inter"/>
                <a:ea typeface="Inter"/>
                <a:cs typeface="Inter"/>
                <a:sym typeface="Inter"/>
              </a:rPr>
              <a:t>2510080044</a:t>
            </a:r>
          </a:p>
        </p:txBody>
      </p:sp>
      <p:sp>
        <p:nvSpPr>
          <p:cNvPr id="8" name="Freeform 8"/>
          <p:cNvSpPr/>
          <p:nvPr/>
        </p:nvSpPr>
        <p:spPr>
          <a:xfrm>
            <a:off x="3696976" y="6635716"/>
            <a:ext cx="229694" cy="2153601"/>
          </a:xfrm>
          <a:custGeom>
            <a:avLst/>
            <a:gdLst/>
            <a:ahLst/>
            <a:cxnLst/>
            <a:rect l="l" t="t" r="r" b="b"/>
            <a:pathLst>
              <a:path w="229694" h="2153601">
                <a:moveTo>
                  <a:pt x="0" y="0"/>
                </a:moveTo>
                <a:lnTo>
                  <a:pt x="229694" y="0"/>
                </a:lnTo>
                <a:lnTo>
                  <a:pt x="229694" y="2153602"/>
                </a:lnTo>
                <a:lnTo>
                  <a:pt x="0" y="2153602"/>
                </a:lnTo>
                <a:lnTo>
                  <a:pt x="0" y="0"/>
                </a:lnTo>
                <a:close/>
              </a:path>
            </a:pathLst>
          </a:custGeom>
          <a:blipFill>
            <a:blip r:embed="rId4"/>
            <a:stretch>
              <a:fillRect/>
            </a:stretch>
          </a:blipFill>
        </p:spPr>
      </p:sp>
      <p:sp>
        <p:nvSpPr>
          <p:cNvPr id="9" name="TextBox 9"/>
          <p:cNvSpPr txBox="1"/>
          <p:nvPr/>
        </p:nvSpPr>
        <p:spPr>
          <a:xfrm>
            <a:off x="4377377" y="6746772"/>
            <a:ext cx="1602884" cy="352534"/>
          </a:xfrm>
          <a:prstGeom prst="rect">
            <a:avLst/>
          </a:prstGeom>
        </p:spPr>
        <p:txBody>
          <a:bodyPr lIns="0" tIns="0" rIns="0" bIns="0" rtlCol="0" anchor="t">
            <a:spAutoFit/>
          </a:bodyPr>
          <a:lstStyle/>
          <a:p>
            <a:pPr algn="l">
              <a:lnSpc>
                <a:spcPts val="2867"/>
              </a:lnSpc>
            </a:pPr>
            <a:r>
              <a:rPr lang="en-US" sz="2047" b="1" spc="-40">
                <a:solidFill>
                  <a:srgbClr val="5CB6F9"/>
                </a:solidFill>
                <a:latin typeface="Inter Bold"/>
                <a:ea typeface="Inter Bold"/>
                <a:cs typeface="Inter Bold"/>
                <a:sym typeface="Inter Bold"/>
              </a:rPr>
              <a:t>UNIVERSITY</a:t>
            </a:r>
          </a:p>
        </p:txBody>
      </p:sp>
      <p:sp>
        <p:nvSpPr>
          <p:cNvPr id="10" name="TextBox 10"/>
          <p:cNvSpPr txBox="1"/>
          <p:nvPr/>
        </p:nvSpPr>
        <p:spPr>
          <a:xfrm>
            <a:off x="4372716" y="7138994"/>
            <a:ext cx="2977231" cy="399405"/>
          </a:xfrm>
          <a:prstGeom prst="rect">
            <a:avLst/>
          </a:prstGeom>
        </p:spPr>
        <p:txBody>
          <a:bodyPr wrap="square" lIns="0" tIns="0" rIns="0" bIns="0" rtlCol="0" anchor="t">
            <a:spAutoFit/>
          </a:bodyPr>
          <a:lstStyle/>
          <a:p>
            <a:pPr algn="l">
              <a:lnSpc>
                <a:spcPts val="3360"/>
              </a:lnSpc>
            </a:pPr>
            <a:r>
              <a:rPr lang="en-US" sz="2399" spc="-48" dirty="0">
                <a:solidFill>
                  <a:srgbClr val="FFFFFF">
                    <a:alpha val="84706"/>
                  </a:srgbClr>
                </a:solidFill>
                <a:latin typeface="Inter"/>
                <a:ea typeface="Inter"/>
                <a:cs typeface="Inter"/>
                <a:sym typeface="Inter"/>
              </a:rPr>
              <a:t>KLH UNIVERSITY</a:t>
            </a:r>
          </a:p>
        </p:txBody>
      </p:sp>
      <p:sp>
        <p:nvSpPr>
          <p:cNvPr id="11" name="TextBox 11"/>
          <p:cNvSpPr txBox="1"/>
          <p:nvPr/>
        </p:nvSpPr>
        <p:spPr>
          <a:xfrm>
            <a:off x="4397832" y="7985593"/>
            <a:ext cx="2248541" cy="340671"/>
          </a:xfrm>
          <a:prstGeom prst="rect">
            <a:avLst/>
          </a:prstGeom>
        </p:spPr>
        <p:txBody>
          <a:bodyPr wrap="square" lIns="0" tIns="0" rIns="0" bIns="0" rtlCol="0" anchor="t">
            <a:spAutoFit/>
          </a:bodyPr>
          <a:lstStyle/>
          <a:p>
            <a:pPr algn="l">
              <a:lnSpc>
                <a:spcPts val="2867"/>
              </a:lnSpc>
            </a:pPr>
            <a:r>
              <a:rPr lang="en-US" sz="2047" b="1" spc="-40" dirty="0">
                <a:solidFill>
                  <a:srgbClr val="5CB6F9"/>
                </a:solidFill>
                <a:latin typeface="Inter Bold"/>
                <a:ea typeface="Inter Bold"/>
                <a:cs typeface="Inter Bold"/>
                <a:sym typeface="Inter Bold"/>
              </a:rPr>
              <a:t>FACULTY</a:t>
            </a:r>
          </a:p>
        </p:txBody>
      </p:sp>
      <p:sp>
        <p:nvSpPr>
          <p:cNvPr id="12" name="TextBox 12"/>
          <p:cNvSpPr txBox="1"/>
          <p:nvPr/>
        </p:nvSpPr>
        <p:spPr>
          <a:xfrm>
            <a:off x="4362862" y="8389044"/>
            <a:ext cx="3054463" cy="397141"/>
          </a:xfrm>
          <a:prstGeom prst="rect">
            <a:avLst/>
          </a:prstGeom>
        </p:spPr>
        <p:txBody>
          <a:bodyPr lIns="0" tIns="0" rIns="0" bIns="0" rtlCol="0" anchor="t">
            <a:spAutoFit/>
          </a:bodyPr>
          <a:lstStyle/>
          <a:p>
            <a:pPr algn="l">
              <a:lnSpc>
                <a:spcPts val="3360"/>
              </a:lnSpc>
            </a:pPr>
            <a:r>
              <a:rPr lang="en-US" sz="2399" spc="-48" dirty="0" err="1">
                <a:solidFill>
                  <a:srgbClr val="FFFFFF">
                    <a:alpha val="84706"/>
                  </a:srgbClr>
                </a:solidFill>
                <a:latin typeface="Inter"/>
                <a:ea typeface="Inter"/>
                <a:cs typeface="Inter"/>
                <a:sym typeface="Inter"/>
              </a:rPr>
              <a:t>Laiphangbam</a:t>
            </a:r>
            <a:r>
              <a:rPr lang="en-US" sz="2399" spc="-48" dirty="0">
                <a:solidFill>
                  <a:srgbClr val="FFFFFF">
                    <a:alpha val="84706"/>
                  </a:srgbClr>
                </a:solidFill>
                <a:latin typeface="Inter"/>
                <a:ea typeface="Inter"/>
                <a:cs typeface="Inter"/>
                <a:sym typeface="Inter"/>
              </a:rPr>
              <a:t> </a:t>
            </a:r>
            <a:r>
              <a:rPr lang="en-US" sz="2399" spc="-48" dirty="0" err="1">
                <a:solidFill>
                  <a:srgbClr val="FFFFFF">
                    <a:alpha val="84706"/>
                  </a:srgbClr>
                </a:solidFill>
                <a:latin typeface="Inter"/>
                <a:ea typeface="Inter"/>
                <a:cs typeface="Inter"/>
                <a:sym typeface="Inter"/>
              </a:rPr>
              <a:t>melinda</a:t>
            </a:r>
            <a:endParaRPr lang="en-US" sz="2399" spc="-48" dirty="0">
              <a:solidFill>
                <a:srgbClr val="FFFFFF">
                  <a:alpha val="84706"/>
                </a:srgbClr>
              </a:solidFill>
              <a:latin typeface="Inter"/>
              <a:ea typeface="Inter"/>
              <a:cs typeface="Inter"/>
              <a:sym typeface="Inter"/>
            </a:endParaRPr>
          </a:p>
        </p:txBody>
      </p:sp>
      <p:sp>
        <p:nvSpPr>
          <p:cNvPr id="13" name="TextBox 13"/>
          <p:cNvSpPr txBox="1"/>
          <p:nvPr/>
        </p:nvSpPr>
        <p:spPr>
          <a:xfrm>
            <a:off x="807147" y="9147096"/>
            <a:ext cx="2331432" cy="468899"/>
          </a:xfrm>
          <a:prstGeom prst="rect">
            <a:avLst/>
          </a:prstGeom>
        </p:spPr>
        <p:txBody>
          <a:bodyPr lIns="0" tIns="0" rIns="0" bIns="0" rtlCol="0" anchor="t">
            <a:spAutoFit/>
          </a:bodyPr>
          <a:lstStyle/>
          <a:p>
            <a:pPr algn="l">
              <a:lnSpc>
                <a:spcPts val="3864"/>
              </a:lnSpc>
            </a:pPr>
            <a:r>
              <a:rPr lang="en-US" sz="2759" b="1" spc="-55">
                <a:solidFill>
                  <a:srgbClr val="5CB6F9"/>
                </a:solidFill>
                <a:latin typeface="Inter Semi-Bold"/>
                <a:ea typeface="Inter Semi-Bold"/>
                <a:cs typeface="Inter Semi-Bold"/>
                <a:sym typeface="Inter Semi-Bold"/>
              </a:rPr>
              <a:t>October 2026</a:t>
            </a:r>
          </a:p>
        </p:txBody>
      </p:sp>
      <p:sp>
        <p:nvSpPr>
          <p:cNvPr id="14" name="Freeform 14"/>
          <p:cNvSpPr/>
          <p:nvPr/>
        </p:nvSpPr>
        <p:spPr>
          <a:xfrm>
            <a:off x="8050220" y="0"/>
            <a:ext cx="10237780" cy="10287000"/>
          </a:xfrm>
          <a:custGeom>
            <a:avLst/>
            <a:gdLst/>
            <a:ahLst/>
            <a:cxnLst/>
            <a:rect l="l" t="t" r="r" b="b"/>
            <a:pathLst>
              <a:path w="10237780" h="10287000">
                <a:moveTo>
                  <a:pt x="0" y="0"/>
                </a:moveTo>
                <a:lnTo>
                  <a:pt x="10237780" y="0"/>
                </a:lnTo>
                <a:lnTo>
                  <a:pt x="10237780" y="10287000"/>
                </a:lnTo>
                <a:lnTo>
                  <a:pt x="0" y="10287000"/>
                </a:lnTo>
                <a:lnTo>
                  <a:pt x="0" y="0"/>
                </a:lnTo>
                <a:close/>
              </a:path>
            </a:pathLst>
          </a:custGeom>
          <a:blipFill>
            <a:blip r:embed="rId5"/>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CC91E0-D382-9137-2B87-1EB500960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49" y="143798"/>
            <a:ext cx="17926102" cy="9999404"/>
          </a:xfrm>
          <a:prstGeom prst="rect">
            <a:avLst/>
          </a:prstGeom>
        </p:spPr>
      </p:pic>
    </p:spTree>
    <p:extLst>
      <p:ext uri="{BB962C8B-B14F-4D97-AF65-F5344CB8AC3E}">
        <p14:creationId xmlns:p14="http://schemas.microsoft.com/office/powerpoint/2010/main" val="2871189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9144000" y="1497682"/>
            <a:ext cx="6967378" cy="7083928"/>
          </a:xfrm>
          <a:custGeom>
            <a:avLst/>
            <a:gdLst/>
            <a:ahLst/>
            <a:cxnLst/>
            <a:rect l="l" t="t" r="r" b="b"/>
            <a:pathLst>
              <a:path w="6967378" h="7083928">
                <a:moveTo>
                  <a:pt x="0" y="0"/>
                </a:moveTo>
                <a:lnTo>
                  <a:pt x="6967378" y="0"/>
                </a:lnTo>
                <a:lnTo>
                  <a:pt x="6967378" y="7083928"/>
                </a:lnTo>
                <a:lnTo>
                  <a:pt x="0" y="7083928"/>
                </a:lnTo>
                <a:lnTo>
                  <a:pt x="0" y="0"/>
                </a:lnTo>
                <a:close/>
              </a:path>
            </a:pathLst>
          </a:custGeom>
          <a:blipFill>
            <a:blip r:embed="rId3"/>
            <a:stretch>
              <a:fillRect/>
            </a:stretch>
          </a:blipFill>
        </p:spPr>
      </p:sp>
      <p:sp>
        <p:nvSpPr>
          <p:cNvPr id="4" name="Freeform 4"/>
          <p:cNvSpPr/>
          <p:nvPr/>
        </p:nvSpPr>
        <p:spPr>
          <a:xfrm>
            <a:off x="10664354" y="2995365"/>
            <a:ext cx="3926670" cy="4077631"/>
          </a:xfrm>
          <a:custGeom>
            <a:avLst/>
            <a:gdLst/>
            <a:ahLst/>
            <a:cxnLst/>
            <a:rect l="l" t="t" r="r" b="b"/>
            <a:pathLst>
              <a:path w="3926670" h="4077631">
                <a:moveTo>
                  <a:pt x="0" y="0"/>
                </a:moveTo>
                <a:lnTo>
                  <a:pt x="3926670" y="0"/>
                </a:lnTo>
                <a:lnTo>
                  <a:pt x="3926670" y="4077631"/>
                </a:lnTo>
                <a:lnTo>
                  <a:pt x="0" y="4077631"/>
                </a:lnTo>
                <a:lnTo>
                  <a:pt x="0" y="0"/>
                </a:lnTo>
                <a:close/>
              </a:path>
            </a:pathLst>
          </a:custGeom>
          <a:blipFill>
            <a:blip r:embed="rId4"/>
            <a:stretch>
              <a:fillRect/>
            </a:stretch>
          </a:blipFill>
        </p:spPr>
      </p:sp>
      <p:sp>
        <p:nvSpPr>
          <p:cNvPr id="5" name="Freeform 5"/>
          <p:cNvSpPr/>
          <p:nvPr/>
        </p:nvSpPr>
        <p:spPr>
          <a:xfrm>
            <a:off x="11101866" y="634055"/>
            <a:ext cx="3051646" cy="1727254"/>
          </a:xfrm>
          <a:custGeom>
            <a:avLst/>
            <a:gdLst/>
            <a:ahLst/>
            <a:cxnLst/>
            <a:rect l="l" t="t" r="r" b="b"/>
            <a:pathLst>
              <a:path w="3051646" h="1727254">
                <a:moveTo>
                  <a:pt x="0" y="0"/>
                </a:moveTo>
                <a:lnTo>
                  <a:pt x="3051646" y="0"/>
                </a:lnTo>
                <a:lnTo>
                  <a:pt x="3051646" y="1727254"/>
                </a:lnTo>
                <a:lnTo>
                  <a:pt x="0" y="1727254"/>
                </a:lnTo>
                <a:lnTo>
                  <a:pt x="0" y="0"/>
                </a:lnTo>
                <a:close/>
              </a:path>
            </a:pathLst>
          </a:custGeom>
          <a:blipFill>
            <a:blip r:embed="rId5"/>
            <a:stretch>
              <a:fillRect/>
            </a:stretch>
          </a:blipFill>
        </p:spPr>
      </p:sp>
      <p:sp>
        <p:nvSpPr>
          <p:cNvPr id="6" name="TextBox 6"/>
          <p:cNvSpPr txBox="1"/>
          <p:nvPr/>
        </p:nvSpPr>
        <p:spPr>
          <a:xfrm>
            <a:off x="11943150" y="1284316"/>
            <a:ext cx="1350068" cy="406500"/>
          </a:xfrm>
          <a:prstGeom prst="rect">
            <a:avLst/>
          </a:prstGeom>
        </p:spPr>
        <p:txBody>
          <a:bodyPr lIns="0" tIns="0" rIns="0" bIns="0" rtlCol="0" anchor="t">
            <a:spAutoFit/>
          </a:bodyPr>
          <a:lstStyle/>
          <a:p>
            <a:pPr algn="ctr">
              <a:lnSpc>
                <a:spcPts val="3347"/>
              </a:lnSpc>
            </a:pPr>
            <a:r>
              <a:rPr lang="en-US" sz="2575" b="1" spc="-76">
                <a:solidFill>
                  <a:srgbClr val="F8F8F8"/>
                </a:solidFill>
                <a:latin typeface="Inter Semi-Bold"/>
                <a:ea typeface="Inter Semi-Bold"/>
                <a:cs typeface="Inter Semi-Bold"/>
                <a:sym typeface="Inter Semi-Bold"/>
              </a:rPr>
              <a:t>CLIENTS</a:t>
            </a:r>
          </a:p>
        </p:txBody>
      </p:sp>
      <p:sp>
        <p:nvSpPr>
          <p:cNvPr id="7" name="Freeform 7"/>
          <p:cNvSpPr/>
          <p:nvPr/>
        </p:nvSpPr>
        <p:spPr>
          <a:xfrm>
            <a:off x="7831464" y="4285339"/>
            <a:ext cx="2625072" cy="1508614"/>
          </a:xfrm>
          <a:custGeom>
            <a:avLst/>
            <a:gdLst/>
            <a:ahLst/>
            <a:cxnLst/>
            <a:rect l="l" t="t" r="r" b="b"/>
            <a:pathLst>
              <a:path w="2625072" h="1508614">
                <a:moveTo>
                  <a:pt x="0" y="0"/>
                </a:moveTo>
                <a:lnTo>
                  <a:pt x="2625072" y="0"/>
                </a:lnTo>
                <a:lnTo>
                  <a:pt x="2625072" y="1508614"/>
                </a:lnTo>
                <a:lnTo>
                  <a:pt x="0" y="1508614"/>
                </a:lnTo>
                <a:lnTo>
                  <a:pt x="0" y="0"/>
                </a:lnTo>
                <a:close/>
              </a:path>
            </a:pathLst>
          </a:custGeom>
          <a:blipFill>
            <a:blip r:embed="rId6"/>
            <a:stretch>
              <a:fillRect/>
            </a:stretch>
          </a:blipFill>
        </p:spPr>
      </p:sp>
      <p:sp>
        <p:nvSpPr>
          <p:cNvPr id="8" name="TextBox 8"/>
          <p:cNvSpPr txBox="1"/>
          <p:nvPr/>
        </p:nvSpPr>
        <p:spPr>
          <a:xfrm>
            <a:off x="8289657" y="4808553"/>
            <a:ext cx="1691898" cy="406500"/>
          </a:xfrm>
          <a:prstGeom prst="rect">
            <a:avLst/>
          </a:prstGeom>
        </p:spPr>
        <p:txBody>
          <a:bodyPr lIns="0" tIns="0" rIns="0" bIns="0" rtlCol="0" anchor="t">
            <a:spAutoFit/>
          </a:bodyPr>
          <a:lstStyle/>
          <a:p>
            <a:pPr algn="ctr">
              <a:lnSpc>
                <a:spcPts val="3347"/>
              </a:lnSpc>
            </a:pPr>
            <a:r>
              <a:rPr lang="en-US" sz="2575" b="1" spc="-76">
                <a:solidFill>
                  <a:srgbClr val="F8F8F8"/>
                </a:solidFill>
                <a:latin typeface="Inter Semi-Bold"/>
                <a:ea typeface="Inter Semi-Bold"/>
                <a:cs typeface="Inter Semi-Bold"/>
                <a:sym typeface="Inter Semi-Bold"/>
              </a:rPr>
              <a:t>PROJECTS</a:t>
            </a:r>
          </a:p>
        </p:txBody>
      </p:sp>
      <p:sp>
        <p:nvSpPr>
          <p:cNvPr id="9" name="Freeform 9"/>
          <p:cNvSpPr/>
          <p:nvPr/>
        </p:nvSpPr>
        <p:spPr>
          <a:xfrm>
            <a:off x="14798842" y="4285339"/>
            <a:ext cx="2843828" cy="1508614"/>
          </a:xfrm>
          <a:custGeom>
            <a:avLst/>
            <a:gdLst/>
            <a:ahLst/>
            <a:cxnLst/>
            <a:rect l="l" t="t" r="r" b="b"/>
            <a:pathLst>
              <a:path w="2843828" h="1508614">
                <a:moveTo>
                  <a:pt x="0" y="0"/>
                </a:moveTo>
                <a:lnTo>
                  <a:pt x="2843828" y="0"/>
                </a:lnTo>
                <a:lnTo>
                  <a:pt x="2843828" y="1508614"/>
                </a:lnTo>
                <a:lnTo>
                  <a:pt x="0" y="1508614"/>
                </a:lnTo>
                <a:lnTo>
                  <a:pt x="0" y="0"/>
                </a:lnTo>
                <a:close/>
              </a:path>
            </a:pathLst>
          </a:custGeom>
          <a:blipFill>
            <a:blip r:embed="rId7"/>
            <a:stretch>
              <a:fillRect/>
            </a:stretch>
          </a:blipFill>
        </p:spPr>
      </p:sp>
      <p:sp>
        <p:nvSpPr>
          <p:cNvPr id="10" name="TextBox 10"/>
          <p:cNvSpPr txBox="1"/>
          <p:nvPr/>
        </p:nvSpPr>
        <p:spPr>
          <a:xfrm>
            <a:off x="15301428" y="4808553"/>
            <a:ext cx="2080873" cy="406500"/>
          </a:xfrm>
          <a:prstGeom prst="rect">
            <a:avLst/>
          </a:prstGeom>
        </p:spPr>
        <p:txBody>
          <a:bodyPr lIns="0" tIns="0" rIns="0" bIns="0" rtlCol="0" anchor="t">
            <a:spAutoFit/>
          </a:bodyPr>
          <a:lstStyle/>
          <a:p>
            <a:pPr algn="ctr">
              <a:lnSpc>
                <a:spcPts val="3347"/>
              </a:lnSpc>
            </a:pPr>
            <a:r>
              <a:rPr lang="en-US" sz="2575" b="1" spc="-76">
                <a:solidFill>
                  <a:srgbClr val="F8F8F8"/>
                </a:solidFill>
                <a:latin typeface="Inter Semi-Bold"/>
                <a:ea typeface="Inter Semi-Bold"/>
                <a:cs typeface="Inter Semi-Bold"/>
                <a:sym typeface="Inter Semi-Bold"/>
              </a:rPr>
              <a:t>KNOWLEDGE</a:t>
            </a:r>
          </a:p>
        </p:txBody>
      </p:sp>
      <p:sp>
        <p:nvSpPr>
          <p:cNvPr id="11" name="Freeform 11"/>
          <p:cNvSpPr/>
          <p:nvPr/>
        </p:nvSpPr>
        <p:spPr>
          <a:xfrm>
            <a:off x="11101866" y="7499343"/>
            <a:ext cx="3051646" cy="1716322"/>
          </a:xfrm>
          <a:custGeom>
            <a:avLst/>
            <a:gdLst/>
            <a:ahLst/>
            <a:cxnLst/>
            <a:rect l="l" t="t" r="r" b="b"/>
            <a:pathLst>
              <a:path w="3051646" h="1716322">
                <a:moveTo>
                  <a:pt x="0" y="0"/>
                </a:moveTo>
                <a:lnTo>
                  <a:pt x="3051646" y="0"/>
                </a:lnTo>
                <a:lnTo>
                  <a:pt x="3051646" y="1716322"/>
                </a:lnTo>
                <a:lnTo>
                  <a:pt x="0" y="1716322"/>
                </a:lnTo>
                <a:lnTo>
                  <a:pt x="0" y="0"/>
                </a:lnTo>
                <a:close/>
              </a:path>
            </a:pathLst>
          </a:custGeom>
          <a:blipFill>
            <a:blip r:embed="rId8"/>
            <a:stretch>
              <a:fillRect/>
            </a:stretch>
          </a:blipFill>
        </p:spPr>
      </p:sp>
      <p:sp>
        <p:nvSpPr>
          <p:cNvPr id="12" name="TextBox 12"/>
          <p:cNvSpPr txBox="1"/>
          <p:nvPr/>
        </p:nvSpPr>
        <p:spPr>
          <a:xfrm>
            <a:off x="11857981" y="8001451"/>
            <a:ext cx="1520407" cy="817048"/>
          </a:xfrm>
          <a:prstGeom prst="rect">
            <a:avLst/>
          </a:prstGeom>
        </p:spPr>
        <p:txBody>
          <a:bodyPr lIns="0" tIns="0" rIns="0" bIns="0" rtlCol="0" anchor="t">
            <a:spAutoFit/>
          </a:bodyPr>
          <a:lstStyle/>
          <a:p>
            <a:pPr algn="ctr">
              <a:lnSpc>
                <a:spcPts val="3347"/>
              </a:lnSpc>
            </a:pPr>
            <a:r>
              <a:rPr lang="en-US" sz="2575" b="1" spc="-76">
                <a:solidFill>
                  <a:srgbClr val="F8F8F8"/>
                </a:solidFill>
                <a:latin typeface="Inter Semi-Bold"/>
                <a:ea typeface="Inter Semi-Bold"/>
                <a:cs typeface="Inter Semi-Bold"/>
                <a:sym typeface="Inter Semi-Bold"/>
              </a:rPr>
              <a:t>DECISION SUPPORT</a:t>
            </a:r>
          </a:p>
        </p:txBody>
      </p:sp>
      <p:sp>
        <p:nvSpPr>
          <p:cNvPr id="13" name="Freeform 13"/>
          <p:cNvSpPr/>
          <p:nvPr/>
        </p:nvSpPr>
        <p:spPr>
          <a:xfrm>
            <a:off x="12403464" y="1924030"/>
            <a:ext cx="448450" cy="1300906"/>
          </a:xfrm>
          <a:custGeom>
            <a:avLst/>
            <a:gdLst/>
            <a:ahLst/>
            <a:cxnLst/>
            <a:rect l="l" t="t" r="r" b="b"/>
            <a:pathLst>
              <a:path w="448450" h="1300906">
                <a:moveTo>
                  <a:pt x="0" y="0"/>
                </a:moveTo>
                <a:lnTo>
                  <a:pt x="448450" y="0"/>
                </a:lnTo>
                <a:lnTo>
                  <a:pt x="448450" y="1300906"/>
                </a:lnTo>
                <a:lnTo>
                  <a:pt x="0" y="1300906"/>
                </a:lnTo>
                <a:lnTo>
                  <a:pt x="0" y="0"/>
                </a:lnTo>
                <a:close/>
              </a:path>
            </a:pathLst>
          </a:custGeom>
          <a:blipFill>
            <a:blip r:embed="rId9"/>
            <a:stretch>
              <a:fillRect/>
            </a:stretch>
          </a:blipFill>
        </p:spPr>
      </p:sp>
      <p:sp>
        <p:nvSpPr>
          <p:cNvPr id="14" name="Freeform 14"/>
          <p:cNvSpPr/>
          <p:nvPr/>
        </p:nvSpPr>
        <p:spPr>
          <a:xfrm>
            <a:off x="10226842" y="4711687"/>
            <a:ext cx="885962" cy="437279"/>
          </a:xfrm>
          <a:custGeom>
            <a:avLst/>
            <a:gdLst/>
            <a:ahLst/>
            <a:cxnLst/>
            <a:rect l="l" t="t" r="r" b="b"/>
            <a:pathLst>
              <a:path w="885962" h="437279">
                <a:moveTo>
                  <a:pt x="0" y="0"/>
                </a:moveTo>
                <a:lnTo>
                  <a:pt x="885962" y="0"/>
                </a:lnTo>
                <a:lnTo>
                  <a:pt x="885962" y="437279"/>
                </a:lnTo>
                <a:lnTo>
                  <a:pt x="0" y="437279"/>
                </a:lnTo>
                <a:lnTo>
                  <a:pt x="0" y="0"/>
                </a:lnTo>
                <a:close/>
              </a:path>
            </a:pathLst>
          </a:custGeom>
          <a:blipFill>
            <a:blip r:embed="rId10"/>
            <a:stretch>
              <a:fillRect/>
            </a:stretch>
          </a:blipFill>
        </p:spPr>
      </p:sp>
      <p:sp>
        <p:nvSpPr>
          <p:cNvPr id="15" name="Freeform 15"/>
          <p:cNvSpPr/>
          <p:nvPr/>
        </p:nvSpPr>
        <p:spPr>
          <a:xfrm>
            <a:off x="14361330" y="4711687"/>
            <a:ext cx="885962" cy="437279"/>
          </a:xfrm>
          <a:custGeom>
            <a:avLst/>
            <a:gdLst/>
            <a:ahLst/>
            <a:cxnLst/>
            <a:rect l="l" t="t" r="r" b="b"/>
            <a:pathLst>
              <a:path w="885962" h="437279">
                <a:moveTo>
                  <a:pt x="0" y="0"/>
                </a:moveTo>
                <a:lnTo>
                  <a:pt x="885962" y="0"/>
                </a:lnTo>
                <a:lnTo>
                  <a:pt x="885962" y="437279"/>
                </a:lnTo>
                <a:lnTo>
                  <a:pt x="0" y="437279"/>
                </a:lnTo>
                <a:lnTo>
                  <a:pt x="0" y="0"/>
                </a:lnTo>
                <a:close/>
              </a:path>
            </a:pathLst>
          </a:custGeom>
          <a:blipFill>
            <a:blip r:embed="rId11"/>
            <a:stretch>
              <a:fillRect/>
            </a:stretch>
          </a:blipFill>
        </p:spPr>
      </p:sp>
      <p:sp>
        <p:nvSpPr>
          <p:cNvPr id="16" name="Freeform 16"/>
          <p:cNvSpPr/>
          <p:nvPr/>
        </p:nvSpPr>
        <p:spPr>
          <a:xfrm>
            <a:off x="12403464" y="6854356"/>
            <a:ext cx="448450" cy="1082267"/>
          </a:xfrm>
          <a:custGeom>
            <a:avLst/>
            <a:gdLst/>
            <a:ahLst/>
            <a:cxnLst/>
            <a:rect l="l" t="t" r="r" b="b"/>
            <a:pathLst>
              <a:path w="448450" h="1082267">
                <a:moveTo>
                  <a:pt x="0" y="0"/>
                </a:moveTo>
                <a:lnTo>
                  <a:pt x="448450" y="0"/>
                </a:lnTo>
                <a:lnTo>
                  <a:pt x="448450" y="1082267"/>
                </a:lnTo>
                <a:lnTo>
                  <a:pt x="0" y="1082267"/>
                </a:lnTo>
                <a:lnTo>
                  <a:pt x="0" y="0"/>
                </a:lnTo>
                <a:close/>
              </a:path>
            </a:pathLst>
          </a:custGeom>
          <a:blipFill>
            <a:blip r:embed="rId12"/>
            <a:stretch>
              <a:fillRect/>
            </a:stretch>
          </a:blipFill>
        </p:spPr>
      </p:sp>
      <p:sp>
        <p:nvSpPr>
          <p:cNvPr id="17" name="TextBox 17"/>
          <p:cNvSpPr txBox="1"/>
          <p:nvPr/>
        </p:nvSpPr>
        <p:spPr>
          <a:xfrm>
            <a:off x="557368" y="1469170"/>
            <a:ext cx="5878087" cy="1258807"/>
          </a:xfrm>
          <a:prstGeom prst="rect">
            <a:avLst/>
          </a:prstGeom>
        </p:spPr>
        <p:txBody>
          <a:bodyPr lIns="0" tIns="0" rIns="0" bIns="0" rtlCol="0" anchor="t">
            <a:spAutoFit/>
          </a:bodyPr>
          <a:lstStyle/>
          <a:p>
            <a:pPr algn="l">
              <a:lnSpc>
                <a:spcPts val="9920"/>
              </a:lnSpc>
            </a:pPr>
            <a:r>
              <a:rPr lang="en-US" sz="8266" b="1" spc="-330">
                <a:solidFill>
                  <a:srgbClr val="F8F8F8"/>
                </a:solidFill>
                <a:latin typeface="Inter Bold"/>
                <a:ea typeface="Inter Bold"/>
                <a:cs typeface="Inter Bold"/>
                <a:sym typeface="Inter Bold"/>
              </a:rPr>
              <a:t>Introduction</a:t>
            </a:r>
          </a:p>
        </p:txBody>
      </p:sp>
      <p:sp>
        <p:nvSpPr>
          <p:cNvPr id="18" name="TextBox 18"/>
          <p:cNvSpPr txBox="1"/>
          <p:nvPr/>
        </p:nvSpPr>
        <p:spPr>
          <a:xfrm>
            <a:off x="555323" y="2854768"/>
            <a:ext cx="6082592" cy="1080426"/>
          </a:xfrm>
          <a:prstGeom prst="rect">
            <a:avLst/>
          </a:prstGeom>
        </p:spPr>
        <p:txBody>
          <a:bodyPr lIns="0" tIns="0" rIns="0" bIns="0" rtlCol="0" anchor="t">
            <a:spAutoFit/>
          </a:bodyPr>
          <a:lstStyle/>
          <a:p>
            <a:pPr algn="l">
              <a:lnSpc>
                <a:spcPts val="4340"/>
              </a:lnSpc>
            </a:pPr>
            <a:r>
              <a:rPr lang="en-US" sz="3616" b="1" spc="-144">
                <a:solidFill>
                  <a:srgbClr val="66B0F0"/>
                </a:solidFill>
                <a:latin typeface="Inter Semi-Bold"/>
                <a:ea typeface="Inter Semi-Bold"/>
                <a:cs typeface="Inter Semi-Bold"/>
                <a:sym typeface="Inter Semi-Bold"/>
              </a:rPr>
              <a:t>A unified platform for smarter consulting and evaluation</a:t>
            </a:r>
          </a:p>
        </p:txBody>
      </p:sp>
      <p:sp>
        <p:nvSpPr>
          <p:cNvPr id="19" name="Freeform 19"/>
          <p:cNvSpPr/>
          <p:nvPr/>
        </p:nvSpPr>
        <p:spPr>
          <a:xfrm>
            <a:off x="426574" y="4285339"/>
            <a:ext cx="1542230" cy="218640"/>
          </a:xfrm>
          <a:custGeom>
            <a:avLst/>
            <a:gdLst/>
            <a:ahLst/>
            <a:cxnLst/>
            <a:rect l="l" t="t" r="r" b="b"/>
            <a:pathLst>
              <a:path w="1542230" h="218640">
                <a:moveTo>
                  <a:pt x="0" y="0"/>
                </a:moveTo>
                <a:lnTo>
                  <a:pt x="1542230" y="0"/>
                </a:lnTo>
                <a:lnTo>
                  <a:pt x="1542230" y="218640"/>
                </a:lnTo>
                <a:lnTo>
                  <a:pt x="0" y="218640"/>
                </a:lnTo>
                <a:lnTo>
                  <a:pt x="0" y="0"/>
                </a:lnTo>
                <a:close/>
              </a:path>
            </a:pathLst>
          </a:custGeom>
          <a:blipFill>
            <a:blip r:embed="rId13"/>
            <a:stretch>
              <a:fillRect/>
            </a:stretch>
          </a:blipFill>
        </p:spPr>
      </p:sp>
      <p:sp>
        <p:nvSpPr>
          <p:cNvPr id="20" name="TextBox 20"/>
          <p:cNvSpPr txBox="1"/>
          <p:nvPr/>
        </p:nvSpPr>
        <p:spPr>
          <a:xfrm>
            <a:off x="555229" y="4825001"/>
            <a:ext cx="6091943" cy="850677"/>
          </a:xfrm>
          <a:prstGeom prst="rect">
            <a:avLst/>
          </a:prstGeom>
        </p:spPr>
        <p:txBody>
          <a:bodyPr lIns="0" tIns="0" rIns="0" bIns="0" rtlCol="0" anchor="t">
            <a:spAutoFit/>
          </a:bodyPr>
          <a:lstStyle/>
          <a:p>
            <a:pPr algn="l">
              <a:lnSpc>
                <a:spcPts val="3483"/>
              </a:lnSpc>
            </a:pPr>
            <a:r>
              <a:rPr lang="en-US" sz="2487" spc="-74">
                <a:solidFill>
                  <a:srgbClr val="F8F8F8"/>
                </a:solidFill>
                <a:latin typeface="Inter"/>
                <a:ea typeface="Inter"/>
                <a:cs typeface="Inter"/>
                <a:sym typeface="Inter"/>
              </a:rPr>
              <a:t>A centralized system that connects clients, projects, knowledge, and decision support.</a:t>
            </a:r>
          </a:p>
        </p:txBody>
      </p:sp>
      <p:sp>
        <p:nvSpPr>
          <p:cNvPr id="21" name="TextBox 21"/>
          <p:cNvSpPr txBox="1"/>
          <p:nvPr/>
        </p:nvSpPr>
        <p:spPr>
          <a:xfrm>
            <a:off x="558373" y="6361207"/>
            <a:ext cx="5777494" cy="850677"/>
          </a:xfrm>
          <a:prstGeom prst="rect">
            <a:avLst/>
          </a:prstGeom>
        </p:spPr>
        <p:txBody>
          <a:bodyPr lIns="0" tIns="0" rIns="0" bIns="0" rtlCol="0" anchor="t">
            <a:spAutoFit/>
          </a:bodyPr>
          <a:lstStyle/>
          <a:p>
            <a:pPr algn="l">
              <a:lnSpc>
                <a:spcPts val="3483"/>
              </a:lnSpc>
            </a:pPr>
            <a:r>
              <a:rPr lang="en-US" sz="2487" b="1">
                <a:solidFill>
                  <a:srgbClr val="66B0F0"/>
                </a:solidFill>
                <a:latin typeface="Inter Semi-Bold"/>
                <a:ea typeface="Inter Semi-Bold"/>
                <a:cs typeface="Inter Semi-Bold"/>
                <a:sym typeface="Inter Semi-Bold"/>
              </a:rPr>
              <a:t>Streamlines</a:t>
            </a:r>
            <a:r>
              <a:rPr lang="en-US" sz="2487">
                <a:solidFill>
                  <a:srgbClr val="F8F8F8"/>
                </a:solidFill>
                <a:latin typeface="Inter"/>
                <a:ea typeface="Inter"/>
                <a:cs typeface="Inter"/>
                <a:sym typeface="Inter"/>
              </a:rPr>
              <a:t> workflows for faculty and project evaluators</a:t>
            </a:r>
          </a:p>
        </p:txBody>
      </p:sp>
      <p:sp>
        <p:nvSpPr>
          <p:cNvPr id="22" name="TextBox 22"/>
          <p:cNvSpPr txBox="1"/>
          <p:nvPr/>
        </p:nvSpPr>
        <p:spPr>
          <a:xfrm>
            <a:off x="565996" y="7716682"/>
            <a:ext cx="5015241" cy="850677"/>
          </a:xfrm>
          <a:prstGeom prst="rect">
            <a:avLst/>
          </a:prstGeom>
        </p:spPr>
        <p:txBody>
          <a:bodyPr lIns="0" tIns="0" rIns="0" bIns="0" rtlCol="0" anchor="t">
            <a:spAutoFit/>
          </a:bodyPr>
          <a:lstStyle/>
          <a:p>
            <a:pPr algn="l">
              <a:lnSpc>
                <a:spcPts val="3483"/>
              </a:lnSpc>
            </a:pPr>
            <a:r>
              <a:rPr lang="en-US" sz="2487" b="1">
                <a:solidFill>
                  <a:srgbClr val="66B0F0"/>
                </a:solidFill>
                <a:latin typeface="Inter Semi-Bold"/>
                <a:ea typeface="Inter Semi-Bold"/>
                <a:cs typeface="Inter Semi-Bold"/>
                <a:sym typeface="Inter Semi-Bold"/>
              </a:rPr>
              <a:t>Enhances</a:t>
            </a:r>
            <a:r>
              <a:rPr lang="en-US" sz="2487">
                <a:solidFill>
                  <a:srgbClr val="F8F8F8"/>
                </a:solidFill>
                <a:latin typeface="Inter"/>
                <a:ea typeface="Inter"/>
                <a:cs typeface="Inter"/>
                <a:sym typeface="Inter"/>
              </a:rPr>
              <a:t> data-driven consulting</a:t>
            </a:r>
          </a:p>
          <a:p>
            <a:pPr algn="l">
              <a:lnSpc>
                <a:spcPts val="3483"/>
              </a:lnSpc>
            </a:pPr>
            <a:r>
              <a:rPr lang="en-US" sz="2487">
                <a:solidFill>
                  <a:srgbClr val="F8F8F8"/>
                </a:solidFill>
                <a:latin typeface="Inter"/>
                <a:ea typeface="Inter"/>
                <a:cs typeface="Inter"/>
                <a:sym typeface="Inter"/>
              </a:rPr>
              <a:t>and evaluation</a:t>
            </a:r>
          </a:p>
        </p:txBody>
      </p:sp>
      <p:sp>
        <p:nvSpPr>
          <p:cNvPr id="23" name="TextBox 23"/>
          <p:cNvSpPr txBox="1"/>
          <p:nvPr/>
        </p:nvSpPr>
        <p:spPr>
          <a:xfrm>
            <a:off x="11396424" y="4195182"/>
            <a:ext cx="2505135" cy="1669470"/>
          </a:xfrm>
          <a:prstGeom prst="rect">
            <a:avLst/>
          </a:prstGeom>
        </p:spPr>
        <p:txBody>
          <a:bodyPr lIns="0" tIns="0" rIns="0" bIns="0" rtlCol="0" anchor="t">
            <a:spAutoFit/>
          </a:bodyPr>
          <a:lstStyle/>
          <a:p>
            <a:pPr algn="ctr">
              <a:lnSpc>
                <a:spcPts val="4456"/>
              </a:lnSpc>
            </a:pPr>
            <a:r>
              <a:rPr lang="en-US" sz="3713" b="1" spc="-148">
                <a:solidFill>
                  <a:srgbClr val="0B2043"/>
                </a:solidFill>
                <a:latin typeface="Inter Bold"/>
                <a:ea typeface="Inter Bold"/>
                <a:cs typeface="Inter Bold"/>
                <a:sym typeface="Inter Bold"/>
              </a:rPr>
              <a:t>Consulting Intelligence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229603" y="247133"/>
            <a:ext cx="8206396" cy="993382"/>
          </a:xfrm>
          <a:prstGeom prst="rect">
            <a:avLst/>
          </a:prstGeom>
        </p:spPr>
        <p:txBody>
          <a:bodyPr lIns="0" tIns="0" rIns="0" bIns="0" rtlCol="0" anchor="t">
            <a:spAutoFit/>
          </a:bodyPr>
          <a:lstStyle/>
          <a:p>
            <a:pPr algn="l">
              <a:lnSpc>
                <a:spcPts val="7492"/>
              </a:lnSpc>
            </a:pPr>
            <a:r>
              <a:rPr lang="en-US" sz="7492" b="1" spc="-373" dirty="0">
                <a:solidFill>
                  <a:srgbClr val="F4F4F4"/>
                </a:solidFill>
                <a:latin typeface="Inter Bold"/>
                <a:ea typeface="Inter Bold"/>
                <a:cs typeface="Inter Bold"/>
                <a:sym typeface="Inter Bold"/>
              </a:rPr>
              <a:t>Problem Statement</a:t>
            </a:r>
          </a:p>
        </p:txBody>
      </p:sp>
      <p:sp>
        <p:nvSpPr>
          <p:cNvPr id="4" name="TextBox 4"/>
          <p:cNvSpPr txBox="1"/>
          <p:nvPr/>
        </p:nvSpPr>
        <p:spPr>
          <a:xfrm>
            <a:off x="229603" y="1072415"/>
            <a:ext cx="7869359" cy="1067230"/>
          </a:xfrm>
          <a:prstGeom prst="rect">
            <a:avLst/>
          </a:prstGeom>
        </p:spPr>
        <p:txBody>
          <a:bodyPr lIns="0" tIns="0" rIns="0" bIns="0" rtlCol="0" anchor="t">
            <a:spAutoFit/>
          </a:bodyPr>
          <a:lstStyle/>
          <a:p>
            <a:pPr algn="l">
              <a:lnSpc>
                <a:spcPts val="4295"/>
              </a:lnSpc>
            </a:pPr>
            <a:r>
              <a:rPr lang="en-US" sz="3304" b="1" spc="-132" dirty="0">
                <a:solidFill>
                  <a:srgbClr val="61A8E8"/>
                </a:solidFill>
                <a:latin typeface="Inter Semi-Bold"/>
                <a:ea typeface="Inter Semi-Bold"/>
                <a:cs typeface="Inter Semi-Bold"/>
                <a:sym typeface="Inter Semi-Bold"/>
              </a:rPr>
              <a:t>Current consulting and project evaluation processes face critical challenges</a:t>
            </a:r>
          </a:p>
        </p:txBody>
      </p:sp>
      <p:sp>
        <p:nvSpPr>
          <p:cNvPr id="5" name="Freeform 5"/>
          <p:cNvSpPr/>
          <p:nvPr/>
        </p:nvSpPr>
        <p:spPr>
          <a:xfrm>
            <a:off x="-107434" y="2097791"/>
            <a:ext cx="1542230" cy="43727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3"/>
            <a:stretch>
              <a:fillRect/>
            </a:stretch>
          </a:blipFill>
        </p:spPr>
      </p:sp>
      <p:sp>
        <p:nvSpPr>
          <p:cNvPr id="10" name="TextBox 10"/>
          <p:cNvSpPr txBox="1"/>
          <p:nvPr/>
        </p:nvSpPr>
        <p:spPr>
          <a:xfrm>
            <a:off x="186893" y="2409376"/>
            <a:ext cx="10806312" cy="6319743"/>
          </a:xfrm>
          <a:prstGeom prst="rect">
            <a:avLst/>
          </a:prstGeom>
        </p:spPr>
        <p:txBody>
          <a:bodyPr wrap="square" lIns="0" tIns="0" rIns="0" bIns="0" rtlCol="0" anchor="t">
            <a:spAutoFit/>
          </a:bodyPr>
          <a:lstStyle/>
          <a:p>
            <a:pPr>
              <a:lnSpc>
                <a:spcPts val="3347"/>
              </a:lnSpc>
            </a:pPr>
            <a:endParaRPr lang="en-GB" sz="2575" spc="-76" dirty="0">
              <a:solidFill>
                <a:srgbClr val="FFFFFF">
                  <a:alpha val="84706"/>
                </a:srgbClr>
              </a:solidFill>
              <a:latin typeface="Inter"/>
              <a:ea typeface="Inter"/>
              <a:cs typeface="Inter"/>
              <a:sym typeface="Inter"/>
            </a:endParaRPr>
          </a:p>
          <a:p>
            <a:pPr>
              <a:lnSpc>
                <a:spcPts val="3347"/>
              </a:lnSpc>
            </a:pPr>
            <a:endParaRPr lang="en-GB" sz="2575" spc="-76" dirty="0">
              <a:solidFill>
                <a:srgbClr val="FFFFFF">
                  <a:alpha val="84706"/>
                </a:srgbClr>
              </a:solidFill>
              <a:latin typeface="Inter"/>
              <a:ea typeface="Inter"/>
              <a:cs typeface="Inter"/>
              <a:sym typeface="Inter"/>
            </a:endParaRPr>
          </a:p>
          <a:p>
            <a:pPr>
              <a:lnSpc>
                <a:spcPts val="3347"/>
              </a:lnSpc>
            </a:pPr>
            <a:r>
              <a:rPr lang="en-GB" sz="2575" spc="-76" dirty="0">
                <a:solidFill>
                  <a:srgbClr val="FFFFFF">
                    <a:alpha val="84706"/>
                  </a:srgbClr>
                </a:solidFill>
                <a:latin typeface="Inter"/>
                <a:ea typeface="Inter"/>
                <a:cs typeface="Inter"/>
                <a:sym typeface="Inter"/>
              </a:rPr>
              <a:t>Consulting professionals often need to analyse large amounts of business information stored across multiple sources, including structured databases, unstructured documents, reports, and research files. Because this information exists in different formats and locations, finding relevant information, connecting related evidence, and extracting useful business insights can be time-consuming and difficult.</a:t>
            </a:r>
          </a:p>
          <a:p>
            <a:pPr>
              <a:lnSpc>
                <a:spcPts val="3347"/>
              </a:lnSpc>
            </a:pPr>
            <a:endParaRPr lang="en-GB" sz="2575" spc="-76" dirty="0">
              <a:solidFill>
                <a:srgbClr val="FFFFFF">
                  <a:alpha val="84706"/>
                </a:srgbClr>
              </a:solidFill>
              <a:latin typeface="Inter"/>
              <a:ea typeface="Inter"/>
              <a:cs typeface="Inter"/>
              <a:sym typeface="Inter"/>
            </a:endParaRPr>
          </a:p>
          <a:p>
            <a:pPr>
              <a:lnSpc>
                <a:spcPts val="3347"/>
              </a:lnSpc>
            </a:pPr>
            <a:r>
              <a:rPr lang="en-GB" sz="2575" spc="-76" dirty="0">
                <a:solidFill>
                  <a:srgbClr val="FFFFFF">
                    <a:alpha val="84706"/>
                  </a:srgbClr>
                </a:solidFill>
                <a:latin typeface="Inter"/>
                <a:ea typeface="Inter"/>
                <a:cs typeface="Inter"/>
                <a:sym typeface="Inter"/>
              </a:rPr>
              <a:t>The proposed Consulting Intelligence Platform aims to provide a unified interface for searching, organizing, and exploring information from these different sources. By combining keyword-based search, document discovery, structured business information, and semantic search concepts, the platform aims to reduce information discovery time and support faster, evidence-based business decision-making.</a:t>
            </a:r>
            <a:endParaRPr lang="en-US" sz="2575" spc="-76" dirty="0">
              <a:solidFill>
                <a:srgbClr val="FFFFFF">
                  <a:alpha val="84706"/>
                </a:srgbClr>
              </a:solidFill>
              <a:latin typeface="Inter"/>
              <a:ea typeface="Inter"/>
              <a:cs typeface="Inter"/>
              <a:sym typeface="Inter"/>
            </a:endParaRPr>
          </a:p>
        </p:txBody>
      </p:sp>
      <p:sp>
        <p:nvSpPr>
          <p:cNvPr id="11" name="Freeform 11"/>
          <p:cNvSpPr/>
          <p:nvPr/>
        </p:nvSpPr>
        <p:spPr>
          <a:xfrm>
            <a:off x="11101866" y="2139645"/>
            <a:ext cx="1750048" cy="2142669"/>
          </a:xfrm>
          <a:custGeom>
            <a:avLst/>
            <a:gdLst/>
            <a:ahLst/>
            <a:cxnLst/>
            <a:rect l="l" t="t" r="r" b="b"/>
            <a:pathLst>
              <a:path w="1968804" h="2361309">
                <a:moveTo>
                  <a:pt x="0" y="0"/>
                </a:moveTo>
                <a:lnTo>
                  <a:pt x="1968804" y="0"/>
                </a:lnTo>
                <a:lnTo>
                  <a:pt x="1968804" y="2361309"/>
                </a:lnTo>
                <a:lnTo>
                  <a:pt x="0" y="2361309"/>
                </a:lnTo>
                <a:lnTo>
                  <a:pt x="0" y="0"/>
                </a:lnTo>
                <a:close/>
              </a:path>
            </a:pathLst>
          </a:custGeom>
          <a:blipFill>
            <a:blip r:embed="rId4"/>
            <a:stretch>
              <a:fillRect/>
            </a:stretch>
          </a:blipFill>
        </p:spPr>
        <p:txBody>
          <a:bodyPr/>
          <a:lstStyle/>
          <a:p>
            <a:endParaRPr lang="en-IN" dirty="0"/>
          </a:p>
        </p:txBody>
      </p:sp>
      <p:sp>
        <p:nvSpPr>
          <p:cNvPr id="12" name="Freeform 12"/>
          <p:cNvSpPr/>
          <p:nvPr/>
        </p:nvSpPr>
        <p:spPr>
          <a:xfrm>
            <a:off x="16010174" y="2535070"/>
            <a:ext cx="1750048" cy="2372241"/>
          </a:xfrm>
          <a:custGeom>
            <a:avLst/>
            <a:gdLst/>
            <a:ahLst/>
            <a:cxnLst/>
            <a:rect l="l" t="t" r="r" b="b"/>
            <a:pathLst>
              <a:path w="1750048" h="2372241">
                <a:moveTo>
                  <a:pt x="0" y="0"/>
                </a:moveTo>
                <a:lnTo>
                  <a:pt x="1750048" y="0"/>
                </a:lnTo>
                <a:lnTo>
                  <a:pt x="1750048" y="2372241"/>
                </a:lnTo>
                <a:lnTo>
                  <a:pt x="0" y="2372241"/>
                </a:lnTo>
                <a:lnTo>
                  <a:pt x="0" y="0"/>
                </a:lnTo>
                <a:close/>
              </a:path>
            </a:pathLst>
          </a:custGeom>
          <a:blipFill>
            <a:blip r:embed="rId5"/>
            <a:stretch>
              <a:fillRect/>
            </a:stretch>
          </a:blipFill>
        </p:spPr>
      </p:sp>
      <p:sp>
        <p:nvSpPr>
          <p:cNvPr id="13" name="Freeform 13"/>
          <p:cNvSpPr/>
          <p:nvPr/>
        </p:nvSpPr>
        <p:spPr>
          <a:xfrm>
            <a:off x="10828854" y="7032406"/>
            <a:ext cx="1968804" cy="2579949"/>
          </a:xfrm>
          <a:custGeom>
            <a:avLst/>
            <a:gdLst/>
            <a:ahLst/>
            <a:cxnLst/>
            <a:rect l="l" t="t" r="r" b="b"/>
            <a:pathLst>
              <a:path w="1968804" h="2579949">
                <a:moveTo>
                  <a:pt x="0" y="0"/>
                </a:moveTo>
                <a:lnTo>
                  <a:pt x="1968804" y="0"/>
                </a:lnTo>
                <a:lnTo>
                  <a:pt x="1968804" y="2579949"/>
                </a:lnTo>
                <a:lnTo>
                  <a:pt x="0" y="2579949"/>
                </a:lnTo>
                <a:lnTo>
                  <a:pt x="0" y="0"/>
                </a:lnTo>
                <a:close/>
              </a:path>
            </a:pathLst>
          </a:custGeom>
          <a:blipFill>
            <a:blip r:embed="rId6"/>
            <a:stretch>
              <a:fillRect/>
            </a:stretch>
          </a:blipFill>
        </p:spPr>
        <p:txBody>
          <a:bodyPr/>
          <a:lstStyle/>
          <a:p>
            <a:endParaRPr lang="en-IN" dirty="0"/>
          </a:p>
        </p:txBody>
      </p:sp>
      <p:sp>
        <p:nvSpPr>
          <p:cNvPr id="14" name="Freeform 14"/>
          <p:cNvSpPr/>
          <p:nvPr/>
        </p:nvSpPr>
        <p:spPr>
          <a:xfrm>
            <a:off x="15457049" y="5976212"/>
            <a:ext cx="2187560" cy="2579949"/>
          </a:xfrm>
          <a:custGeom>
            <a:avLst/>
            <a:gdLst/>
            <a:ahLst/>
            <a:cxnLst/>
            <a:rect l="l" t="t" r="r" b="b"/>
            <a:pathLst>
              <a:path w="2187560" h="2579949">
                <a:moveTo>
                  <a:pt x="0" y="0"/>
                </a:moveTo>
                <a:lnTo>
                  <a:pt x="2187560" y="0"/>
                </a:lnTo>
                <a:lnTo>
                  <a:pt x="2187560" y="2579948"/>
                </a:lnTo>
                <a:lnTo>
                  <a:pt x="0" y="2579948"/>
                </a:lnTo>
                <a:lnTo>
                  <a:pt x="0" y="0"/>
                </a:lnTo>
                <a:close/>
              </a:path>
            </a:pathLst>
          </a:custGeom>
          <a:blipFill>
            <a:blip r:embed="rId7"/>
            <a:stretch>
              <a:fillRect/>
            </a:stretch>
          </a:blipFill>
        </p:spPr>
      </p:sp>
      <p:sp>
        <p:nvSpPr>
          <p:cNvPr id="15" name="Freeform 15"/>
          <p:cNvSpPr/>
          <p:nvPr/>
        </p:nvSpPr>
        <p:spPr>
          <a:xfrm>
            <a:off x="11738619" y="4213807"/>
            <a:ext cx="1750048" cy="1082267"/>
          </a:xfrm>
          <a:custGeom>
            <a:avLst/>
            <a:gdLst/>
            <a:ahLst/>
            <a:cxnLst/>
            <a:rect l="l" t="t" r="r" b="b"/>
            <a:pathLst>
              <a:path w="1750048" h="1082267">
                <a:moveTo>
                  <a:pt x="0" y="0"/>
                </a:moveTo>
                <a:lnTo>
                  <a:pt x="1750048" y="0"/>
                </a:lnTo>
                <a:lnTo>
                  <a:pt x="1750048" y="1082266"/>
                </a:lnTo>
                <a:lnTo>
                  <a:pt x="0" y="1082266"/>
                </a:lnTo>
                <a:lnTo>
                  <a:pt x="0" y="0"/>
                </a:lnTo>
                <a:close/>
              </a:path>
            </a:pathLst>
          </a:custGeom>
          <a:blipFill>
            <a:blip r:embed="rId8"/>
            <a:stretch>
              <a:fillRect/>
            </a:stretch>
          </a:blipFill>
        </p:spPr>
      </p:sp>
      <p:sp>
        <p:nvSpPr>
          <p:cNvPr id="16" name="Freeform 16"/>
          <p:cNvSpPr/>
          <p:nvPr/>
        </p:nvSpPr>
        <p:spPr>
          <a:xfrm>
            <a:off x="14277332" y="4268342"/>
            <a:ext cx="1750048" cy="1300906"/>
          </a:xfrm>
          <a:custGeom>
            <a:avLst/>
            <a:gdLst/>
            <a:ahLst/>
            <a:cxnLst/>
            <a:rect l="l" t="t" r="r" b="b"/>
            <a:pathLst>
              <a:path w="1750048" h="1300906">
                <a:moveTo>
                  <a:pt x="0" y="0"/>
                </a:moveTo>
                <a:lnTo>
                  <a:pt x="1750048" y="0"/>
                </a:lnTo>
                <a:lnTo>
                  <a:pt x="1750048" y="1300906"/>
                </a:lnTo>
                <a:lnTo>
                  <a:pt x="0" y="1300906"/>
                </a:lnTo>
                <a:lnTo>
                  <a:pt x="0" y="0"/>
                </a:lnTo>
                <a:close/>
              </a:path>
            </a:pathLst>
          </a:custGeom>
          <a:blipFill>
            <a:blip r:embed="rId9"/>
            <a:stretch>
              <a:fillRect/>
            </a:stretch>
          </a:blipFill>
        </p:spPr>
      </p:sp>
      <p:sp>
        <p:nvSpPr>
          <p:cNvPr id="17" name="Freeform 17"/>
          <p:cNvSpPr/>
          <p:nvPr/>
        </p:nvSpPr>
        <p:spPr>
          <a:xfrm>
            <a:off x="11519863" y="6221790"/>
            <a:ext cx="2187560" cy="1300906"/>
          </a:xfrm>
          <a:custGeom>
            <a:avLst/>
            <a:gdLst/>
            <a:ahLst/>
            <a:cxnLst/>
            <a:rect l="l" t="t" r="r" b="b"/>
            <a:pathLst>
              <a:path w="2187560" h="1300906">
                <a:moveTo>
                  <a:pt x="0" y="0"/>
                </a:moveTo>
                <a:lnTo>
                  <a:pt x="2187560" y="0"/>
                </a:lnTo>
                <a:lnTo>
                  <a:pt x="2187560" y="1300906"/>
                </a:lnTo>
                <a:lnTo>
                  <a:pt x="0" y="1300906"/>
                </a:lnTo>
                <a:lnTo>
                  <a:pt x="0" y="0"/>
                </a:lnTo>
                <a:close/>
              </a:path>
            </a:pathLst>
          </a:custGeom>
          <a:blipFill>
            <a:blip r:embed="rId10"/>
            <a:stretch>
              <a:fillRect/>
            </a:stretch>
          </a:blipFill>
        </p:spPr>
      </p:sp>
      <p:sp>
        <p:nvSpPr>
          <p:cNvPr id="18" name="Freeform 18"/>
          <p:cNvSpPr/>
          <p:nvPr/>
        </p:nvSpPr>
        <p:spPr>
          <a:xfrm>
            <a:off x="13854568" y="5724175"/>
            <a:ext cx="1968804" cy="1289974"/>
          </a:xfrm>
          <a:custGeom>
            <a:avLst/>
            <a:gdLst/>
            <a:ahLst/>
            <a:cxnLst/>
            <a:rect l="l" t="t" r="r" b="b"/>
            <a:pathLst>
              <a:path w="1968804" h="1289974">
                <a:moveTo>
                  <a:pt x="0" y="0"/>
                </a:moveTo>
                <a:lnTo>
                  <a:pt x="1968804" y="0"/>
                </a:lnTo>
                <a:lnTo>
                  <a:pt x="1968804" y="1289974"/>
                </a:lnTo>
                <a:lnTo>
                  <a:pt x="0" y="1289974"/>
                </a:lnTo>
                <a:lnTo>
                  <a:pt x="0" y="0"/>
                </a:lnTo>
                <a:close/>
              </a:path>
            </a:pathLst>
          </a:custGeom>
          <a:blipFill>
            <a:blip r:embed="rId11"/>
            <a:stretch>
              <a:fillRect/>
            </a:stretch>
          </a:blipFill>
        </p:spPr>
        <p:txBody>
          <a:bodyPr/>
          <a:lstStyle/>
          <a:p>
            <a:endParaRPr lang="en-IN" dirty="0"/>
          </a:p>
        </p:txBody>
      </p:sp>
      <p:sp>
        <p:nvSpPr>
          <p:cNvPr id="19" name="Freeform 19"/>
          <p:cNvSpPr/>
          <p:nvPr/>
        </p:nvSpPr>
        <p:spPr>
          <a:xfrm>
            <a:off x="11893138" y="2933700"/>
            <a:ext cx="3062584" cy="4930326"/>
          </a:xfrm>
          <a:custGeom>
            <a:avLst/>
            <a:gdLst/>
            <a:ahLst/>
            <a:cxnLst/>
            <a:rect l="l" t="t" r="r" b="b"/>
            <a:pathLst>
              <a:path w="3062584" h="4930326">
                <a:moveTo>
                  <a:pt x="0" y="0"/>
                </a:moveTo>
                <a:lnTo>
                  <a:pt x="3062584" y="0"/>
                </a:lnTo>
                <a:lnTo>
                  <a:pt x="3062584" y="4930326"/>
                </a:lnTo>
                <a:lnTo>
                  <a:pt x="0" y="4930326"/>
                </a:lnTo>
                <a:lnTo>
                  <a:pt x="0" y="0"/>
                </a:lnTo>
                <a:close/>
              </a:path>
            </a:pathLst>
          </a:custGeom>
          <a:blipFill>
            <a:blip r:embed="rId12"/>
            <a:stretch>
              <a:fillRect/>
            </a:stretch>
          </a:blipFill>
        </p:spPr>
        <p:txBody>
          <a:bodyPr/>
          <a:lstStyle/>
          <a:p>
            <a:r>
              <a:rPr lang="en-US" dirty="0"/>
              <a:t> </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420EB-9399-E82E-B925-612E9CDC4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25" y="0"/>
            <a:ext cx="17884775" cy="9982200"/>
          </a:xfrm>
          <a:prstGeom prst="rect">
            <a:avLst/>
          </a:prstGeom>
        </p:spPr>
      </p:pic>
    </p:spTree>
    <p:extLst>
      <p:ext uri="{BB962C8B-B14F-4D97-AF65-F5344CB8AC3E}">
        <p14:creationId xmlns:p14="http://schemas.microsoft.com/office/powerpoint/2010/main" val="58629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640741" y="1221031"/>
            <a:ext cx="5577511" cy="1146248"/>
          </a:xfrm>
          <a:prstGeom prst="rect">
            <a:avLst/>
          </a:prstGeom>
        </p:spPr>
        <p:txBody>
          <a:bodyPr lIns="0" tIns="0" rIns="0" bIns="0" rtlCol="0" anchor="t">
            <a:spAutoFit/>
          </a:bodyPr>
          <a:lstStyle/>
          <a:p>
            <a:pPr algn="l">
              <a:lnSpc>
                <a:spcPts val="8639"/>
              </a:lnSpc>
            </a:pPr>
            <a:r>
              <a:rPr lang="en-US" sz="8639" b="1" spc="-172">
                <a:solidFill>
                  <a:srgbClr val="FFFFFF"/>
                </a:solidFill>
                <a:latin typeface="Inter Bold"/>
                <a:ea typeface="Inter Bold"/>
                <a:cs typeface="Inter Bold"/>
                <a:sym typeface="Inter Bold"/>
              </a:rPr>
              <a:t>Objectives</a:t>
            </a:r>
          </a:p>
        </p:txBody>
      </p:sp>
      <p:sp>
        <p:nvSpPr>
          <p:cNvPr id="4" name="Freeform 4"/>
          <p:cNvSpPr/>
          <p:nvPr/>
        </p:nvSpPr>
        <p:spPr>
          <a:xfrm>
            <a:off x="645330" y="2350377"/>
            <a:ext cx="1323474" cy="229572"/>
          </a:xfrm>
          <a:custGeom>
            <a:avLst/>
            <a:gdLst/>
            <a:ahLst/>
            <a:cxnLst/>
            <a:rect l="l" t="t" r="r" b="b"/>
            <a:pathLst>
              <a:path w="1323474" h="229572">
                <a:moveTo>
                  <a:pt x="0" y="0"/>
                </a:moveTo>
                <a:lnTo>
                  <a:pt x="1323474" y="0"/>
                </a:lnTo>
                <a:lnTo>
                  <a:pt x="1323474" y="229572"/>
                </a:lnTo>
                <a:lnTo>
                  <a:pt x="0" y="229572"/>
                </a:lnTo>
                <a:lnTo>
                  <a:pt x="0" y="0"/>
                </a:lnTo>
                <a:close/>
              </a:path>
            </a:pathLst>
          </a:custGeom>
          <a:blipFill>
            <a:blip r:embed="rId3"/>
            <a:stretch>
              <a:fillRect/>
            </a:stretch>
          </a:blipFill>
        </p:spPr>
      </p:sp>
      <p:sp>
        <p:nvSpPr>
          <p:cNvPr id="5" name="Freeform 5"/>
          <p:cNvSpPr/>
          <p:nvPr/>
        </p:nvSpPr>
        <p:spPr>
          <a:xfrm>
            <a:off x="645330" y="2776725"/>
            <a:ext cx="8936182" cy="1300906"/>
          </a:xfrm>
          <a:custGeom>
            <a:avLst/>
            <a:gdLst/>
            <a:ahLst/>
            <a:cxnLst/>
            <a:rect l="l" t="t" r="r" b="b"/>
            <a:pathLst>
              <a:path w="8936182" h="1300906">
                <a:moveTo>
                  <a:pt x="0" y="0"/>
                </a:moveTo>
                <a:lnTo>
                  <a:pt x="8936182" y="0"/>
                </a:lnTo>
                <a:lnTo>
                  <a:pt x="8936182" y="1300906"/>
                </a:lnTo>
                <a:lnTo>
                  <a:pt x="0" y="1300906"/>
                </a:lnTo>
                <a:lnTo>
                  <a:pt x="0" y="0"/>
                </a:lnTo>
                <a:close/>
              </a:path>
            </a:pathLst>
          </a:custGeom>
          <a:blipFill>
            <a:blip r:embed="rId4"/>
            <a:stretch>
              <a:fillRect/>
            </a:stretch>
          </a:blipFill>
        </p:spPr>
      </p:sp>
      <p:sp>
        <p:nvSpPr>
          <p:cNvPr id="6" name="TextBox 6"/>
          <p:cNvSpPr txBox="1"/>
          <p:nvPr/>
        </p:nvSpPr>
        <p:spPr>
          <a:xfrm>
            <a:off x="1020233" y="3290768"/>
            <a:ext cx="533964" cy="500938"/>
          </a:xfrm>
          <a:prstGeom prst="rect">
            <a:avLst/>
          </a:prstGeom>
        </p:spPr>
        <p:txBody>
          <a:bodyPr lIns="0" tIns="0" rIns="0" bIns="0" rtlCol="0" anchor="t">
            <a:spAutoFit/>
          </a:bodyPr>
          <a:lstStyle/>
          <a:p>
            <a:pPr algn="ctr">
              <a:lnSpc>
                <a:spcPts val="3702"/>
              </a:lnSpc>
            </a:pPr>
            <a:r>
              <a:rPr lang="en-US" sz="3702" b="1" spc="-74">
                <a:solidFill>
                  <a:srgbClr val="051638"/>
                </a:solidFill>
                <a:latin typeface="Inter Bold"/>
                <a:ea typeface="Inter Bold"/>
                <a:cs typeface="Inter Bold"/>
                <a:sym typeface="Inter Bold"/>
              </a:rPr>
              <a:t>01</a:t>
            </a:r>
          </a:p>
        </p:txBody>
      </p:sp>
      <p:sp>
        <p:nvSpPr>
          <p:cNvPr id="7" name="TextBox 7"/>
          <p:cNvSpPr txBox="1"/>
          <p:nvPr/>
        </p:nvSpPr>
        <p:spPr>
          <a:xfrm>
            <a:off x="2101090" y="3212147"/>
            <a:ext cx="6882412" cy="456442"/>
          </a:xfrm>
          <a:prstGeom prst="rect">
            <a:avLst/>
          </a:prstGeom>
        </p:spPr>
        <p:txBody>
          <a:bodyPr lIns="0" tIns="0" rIns="0" bIns="0" rtlCol="0" anchor="t">
            <a:spAutoFit/>
          </a:bodyPr>
          <a:lstStyle/>
          <a:p>
            <a:pPr algn="l">
              <a:lnSpc>
                <a:spcPts val="3620"/>
              </a:lnSpc>
            </a:pPr>
            <a:r>
              <a:rPr lang="en-US" sz="2896" spc="-86">
                <a:solidFill>
                  <a:srgbClr val="FFFFFF"/>
                </a:solidFill>
                <a:latin typeface="Inter"/>
                <a:ea typeface="Inter"/>
                <a:cs typeface="Inter"/>
                <a:sym typeface="Inter"/>
              </a:rPr>
              <a:t>Centralize client and project management</a:t>
            </a:r>
          </a:p>
        </p:txBody>
      </p:sp>
      <p:sp>
        <p:nvSpPr>
          <p:cNvPr id="8" name="Freeform 8"/>
          <p:cNvSpPr/>
          <p:nvPr/>
        </p:nvSpPr>
        <p:spPr>
          <a:xfrm>
            <a:off x="645330" y="4066699"/>
            <a:ext cx="8936182" cy="1300906"/>
          </a:xfrm>
          <a:custGeom>
            <a:avLst/>
            <a:gdLst/>
            <a:ahLst/>
            <a:cxnLst/>
            <a:rect l="l" t="t" r="r" b="b"/>
            <a:pathLst>
              <a:path w="8936182" h="1300906">
                <a:moveTo>
                  <a:pt x="0" y="0"/>
                </a:moveTo>
                <a:lnTo>
                  <a:pt x="8936182" y="0"/>
                </a:lnTo>
                <a:lnTo>
                  <a:pt x="8936182" y="1300907"/>
                </a:lnTo>
                <a:lnTo>
                  <a:pt x="0" y="1300907"/>
                </a:lnTo>
                <a:lnTo>
                  <a:pt x="0" y="0"/>
                </a:lnTo>
                <a:close/>
              </a:path>
            </a:pathLst>
          </a:custGeom>
          <a:blipFill>
            <a:blip r:embed="rId5"/>
            <a:stretch>
              <a:fillRect/>
            </a:stretch>
          </a:blipFill>
        </p:spPr>
      </p:sp>
      <p:sp>
        <p:nvSpPr>
          <p:cNvPr id="9" name="TextBox 9"/>
          <p:cNvSpPr txBox="1"/>
          <p:nvPr/>
        </p:nvSpPr>
        <p:spPr>
          <a:xfrm>
            <a:off x="969605" y="4584035"/>
            <a:ext cx="635218" cy="514394"/>
          </a:xfrm>
          <a:prstGeom prst="rect">
            <a:avLst/>
          </a:prstGeom>
        </p:spPr>
        <p:txBody>
          <a:bodyPr lIns="0" tIns="0" rIns="0" bIns="0" rtlCol="0" anchor="t">
            <a:spAutoFit/>
          </a:bodyPr>
          <a:lstStyle/>
          <a:p>
            <a:pPr algn="ctr">
              <a:lnSpc>
                <a:spcPts val="3904"/>
              </a:lnSpc>
            </a:pPr>
            <a:r>
              <a:rPr lang="en-US" sz="3904" b="1" spc="-78">
                <a:solidFill>
                  <a:srgbClr val="051638"/>
                </a:solidFill>
                <a:latin typeface="Inter Bold"/>
                <a:ea typeface="Inter Bold"/>
                <a:cs typeface="Inter Bold"/>
                <a:sym typeface="Inter Bold"/>
              </a:rPr>
              <a:t>02</a:t>
            </a:r>
          </a:p>
        </p:txBody>
      </p:sp>
      <p:sp>
        <p:nvSpPr>
          <p:cNvPr id="10" name="TextBox 10"/>
          <p:cNvSpPr txBox="1"/>
          <p:nvPr/>
        </p:nvSpPr>
        <p:spPr>
          <a:xfrm>
            <a:off x="2122884" y="4296527"/>
            <a:ext cx="4703027" cy="902689"/>
          </a:xfrm>
          <a:prstGeom prst="rect">
            <a:avLst/>
          </a:prstGeom>
        </p:spPr>
        <p:txBody>
          <a:bodyPr lIns="0" tIns="0" rIns="0" bIns="0" rtlCol="0" anchor="t">
            <a:spAutoFit/>
          </a:bodyPr>
          <a:lstStyle/>
          <a:p>
            <a:pPr algn="l">
              <a:lnSpc>
                <a:spcPts val="3620"/>
              </a:lnSpc>
            </a:pPr>
            <a:r>
              <a:rPr lang="en-US" sz="2896" spc="-86">
                <a:solidFill>
                  <a:srgbClr val="FFFFFF"/>
                </a:solidFill>
                <a:latin typeface="Inter"/>
                <a:ea typeface="Inter"/>
                <a:cs typeface="Inter"/>
                <a:sym typeface="Inter"/>
              </a:rPr>
              <a:t>Facilitate knowledge sharing</a:t>
            </a:r>
          </a:p>
          <a:p>
            <a:pPr algn="l">
              <a:lnSpc>
                <a:spcPts val="3620"/>
              </a:lnSpc>
            </a:pPr>
            <a:r>
              <a:rPr lang="en-US" sz="2896" spc="-86">
                <a:solidFill>
                  <a:srgbClr val="FFFFFF"/>
                </a:solidFill>
                <a:latin typeface="Inter"/>
                <a:ea typeface="Inter"/>
                <a:cs typeface="Inter"/>
                <a:sym typeface="Inter"/>
              </a:rPr>
              <a:t>and documentation</a:t>
            </a:r>
          </a:p>
        </p:txBody>
      </p:sp>
      <p:sp>
        <p:nvSpPr>
          <p:cNvPr id="11" name="Freeform 11"/>
          <p:cNvSpPr/>
          <p:nvPr/>
        </p:nvSpPr>
        <p:spPr>
          <a:xfrm>
            <a:off x="645330" y="5356674"/>
            <a:ext cx="8936182" cy="1508614"/>
          </a:xfrm>
          <a:custGeom>
            <a:avLst/>
            <a:gdLst/>
            <a:ahLst/>
            <a:cxnLst/>
            <a:rect l="l" t="t" r="r" b="b"/>
            <a:pathLst>
              <a:path w="8936182" h="1508614">
                <a:moveTo>
                  <a:pt x="0" y="0"/>
                </a:moveTo>
                <a:lnTo>
                  <a:pt x="8936182" y="0"/>
                </a:lnTo>
                <a:lnTo>
                  <a:pt x="8936182" y="1508614"/>
                </a:lnTo>
                <a:lnTo>
                  <a:pt x="0" y="1508614"/>
                </a:lnTo>
                <a:lnTo>
                  <a:pt x="0" y="0"/>
                </a:lnTo>
                <a:close/>
              </a:path>
            </a:pathLst>
          </a:custGeom>
          <a:blipFill>
            <a:blip r:embed="rId6"/>
            <a:stretch>
              <a:fillRect/>
            </a:stretch>
          </a:blipFill>
        </p:spPr>
      </p:sp>
      <p:sp>
        <p:nvSpPr>
          <p:cNvPr id="12" name="TextBox 12"/>
          <p:cNvSpPr txBox="1"/>
          <p:nvPr/>
        </p:nvSpPr>
        <p:spPr>
          <a:xfrm>
            <a:off x="960555" y="5879267"/>
            <a:ext cx="653320" cy="514394"/>
          </a:xfrm>
          <a:prstGeom prst="rect">
            <a:avLst/>
          </a:prstGeom>
        </p:spPr>
        <p:txBody>
          <a:bodyPr lIns="0" tIns="0" rIns="0" bIns="0" rtlCol="0" anchor="t">
            <a:spAutoFit/>
          </a:bodyPr>
          <a:lstStyle/>
          <a:p>
            <a:pPr algn="ctr">
              <a:lnSpc>
                <a:spcPts val="3904"/>
              </a:lnSpc>
            </a:pPr>
            <a:r>
              <a:rPr lang="en-US" sz="3904" b="1" spc="-78">
                <a:solidFill>
                  <a:srgbClr val="051638"/>
                </a:solidFill>
                <a:latin typeface="Inter Bold"/>
                <a:ea typeface="Inter Bold"/>
                <a:cs typeface="Inter Bold"/>
                <a:sym typeface="Inter Bold"/>
              </a:rPr>
              <a:t>03</a:t>
            </a:r>
          </a:p>
        </p:txBody>
      </p:sp>
      <p:sp>
        <p:nvSpPr>
          <p:cNvPr id="13" name="TextBox 13"/>
          <p:cNvSpPr txBox="1"/>
          <p:nvPr/>
        </p:nvSpPr>
        <p:spPr>
          <a:xfrm>
            <a:off x="2108721" y="5591760"/>
            <a:ext cx="6119321" cy="902689"/>
          </a:xfrm>
          <a:prstGeom prst="rect">
            <a:avLst/>
          </a:prstGeom>
        </p:spPr>
        <p:txBody>
          <a:bodyPr lIns="0" tIns="0" rIns="0" bIns="0" rtlCol="0" anchor="t">
            <a:spAutoFit/>
          </a:bodyPr>
          <a:lstStyle/>
          <a:p>
            <a:pPr algn="l">
              <a:lnSpc>
                <a:spcPts val="3620"/>
              </a:lnSpc>
            </a:pPr>
            <a:r>
              <a:rPr lang="en-US" sz="2896" spc="-86">
                <a:solidFill>
                  <a:srgbClr val="FFFFFF"/>
                </a:solidFill>
                <a:latin typeface="Inter"/>
                <a:ea typeface="Inter"/>
                <a:cs typeface="Inter"/>
                <a:sym typeface="Inter"/>
              </a:rPr>
              <a:t>Provide data-driven decision support</a:t>
            </a:r>
          </a:p>
          <a:p>
            <a:pPr algn="l">
              <a:lnSpc>
                <a:spcPts val="3620"/>
              </a:lnSpc>
            </a:pPr>
            <a:r>
              <a:rPr lang="en-US" sz="2896" spc="-86">
                <a:solidFill>
                  <a:srgbClr val="FFFFFF"/>
                </a:solidFill>
                <a:latin typeface="Inter"/>
                <a:ea typeface="Inter"/>
                <a:cs typeface="Inter"/>
                <a:sym typeface="Inter"/>
              </a:rPr>
              <a:t>for evaluators</a:t>
            </a:r>
          </a:p>
        </p:txBody>
      </p:sp>
      <p:sp>
        <p:nvSpPr>
          <p:cNvPr id="14" name="Freeform 14"/>
          <p:cNvSpPr/>
          <p:nvPr/>
        </p:nvSpPr>
        <p:spPr>
          <a:xfrm>
            <a:off x="645330" y="6635716"/>
            <a:ext cx="8936182" cy="1508614"/>
          </a:xfrm>
          <a:custGeom>
            <a:avLst/>
            <a:gdLst/>
            <a:ahLst/>
            <a:cxnLst/>
            <a:rect l="l" t="t" r="r" b="b"/>
            <a:pathLst>
              <a:path w="8936182" h="1508614">
                <a:moveTo>
                  <a:pt x="0" y="0"/>
                </a:moveTo>
                <a:lnTo>
                  <a:pt x="8936182" y="0"/>
                </a:lnTo>
                <a:lnTo>
                  <a:pt x="8936182" y="1508614"/>
                </a:lnTo>
                <a:lnTo>
                  <a:pt x="0" y="1508614"/>
                </a:lnTo>
                <a:lnTo>
                  <a:pt x="0" y="0"/>
                </a:lnTo>
                <a:close/>
              </a:path>
            </a:pathLst>
          </a:custGeom>
          <a:blipFill>
            <a:blip r:embed="rId7"/>
            <a:stretch>
              <a:fillRect/>
            </a:stretch>
          </a:blipFill>
        </p:spPr>
      </p:sp>
      <p:sp>
        <p:nvSpPr>
          <p:cNvPr id="15" name="TextBox 15"/>
          <p:cNvSpPr txBox="1"/>
          <p:nvPr/>
        </p:nvSpPr>
        <p:spPr>
          <a:xfrm>
            <a:off x="953484" y="7174458"/>
            <a:ext cx="667462" cy="524002"/>
          </a:xfrm>
          <a:prstGeom prst="rect">
            <a:avLst/>
          </a:prstGeom>
        </p:spPr>
        <p:txBody>
          <a:bodyPr lIns="0" tIns="0" rIns="0" bIns="0" rtlCol="0" anchor="t">
            <a:spAutoFit/>
          </a:bodyPr>
          <a:lstStyle/>
          <a:p>
            <a:pPr algn="ctr">
              <a:lnSpc>
                <a:spcPts val="3955"/>
              </a:lnSpc>
            </a:pPr>
            <a:r>
              <a:rPr lang="en-US" sz="3955" b="1" spc="-79">
                <a:solidFill>
                  <a:srgbClr val="051638"/>
                </a:solidFill>
                <a:latin typeface="Inter Bold"/>
                <a:ea typeface="Inter Bold"/>
                <a:cs typeface="Inter Bold"/>
                <a:sym typeface="Inter Bold"/>
              </a:rPr>
              <a:t>04</a:t>
            </a:r>
          </a:p>
        </p:txBody>
      </p:sp>
      <p:sp>
        <p:nvSpPr>
          <p:cNvPr id="16" name="TextBox 16"/>
          <p:cNvSpPr txBox="1"/>
          <p:nvPr/>
        </p:nvSpPr>
        <p:spPr>
          <a:xfrm>
            <a:off x="2121624" y="6886992"/>
            <a:ext cx="4829016" cy="902689"/>
          </a:xfrm>
          <a:prstGeom prst="rect">
            <a:avLst/>
          </a:prstGeom>
        </p:spPr>
        <p:txBody>
          <a:bodyPr lIns="0" tIns="0" rIns="0" bIns="0" rtlCol="0" anchor="t">
            <a:spAutoFit/>
          </a:bodyPr>
          <a:lstStyle/>
          <a:p>
            <a:pPr algn="l">
              <a:lnSpc>
                <a:spcPts val="3620"/>
              </a:lnSpc>
            </a:pPr>
            <a:r>
              <a:rPr lang="en-US" sz="2896" spc="-86">
                <a:solidFill>
                  <a:srgbClr val="FFFFFF"/>
                </a:solidFill>
                <a:latin typeface="Inter"/>
                <a:ea typeface="Inter"/>
                <a:cs typeface="Inter"/>
                <a:sym typeface="Inter"/>
              </a:rPr>
              <a:t>Improve collaboration among</a:t>
            </a:r>
          </a:p>
          <a:p>
            <a:pPr algn="l">
              <a:lnSpc>
                <a:spcPts val="3620"/>
              </a:lnSpc>
            </a:pPr>
            <a:r>
              <a:rPr lang="en-US" sz="2896" spc="-86">
                <a:solidFill>
                  <a:srgbClr val="FFFFFF"/>
                </a:solidFill>
                <a:latin typeface="Inter"/>
                <a:ea typeface="Inter"/>
                <a:cs typeface="Inter"/>
                <a:sym typeface="Inter"/>
              </a:rPr>
              <a:t>faculty and evaluators</a:t>
            </a:r>
          </a:p>
        </p:txBody>
      </p:sp>
      <p:sp>
        <p:nvSpPr>
          <p:cNvPr id="17" name="Freeform 17"/>
          <p:cNvSpPr/>
          <p:nvPr/>
        </p:nvSpPr>
        <p:spPr>
          <a:xfrm>
            <a:off x="645330" y="7925691"/>
            <a:ext cx="8936182" cy="1508614"/>
          </a:xfrm>
          <a:custGeom>
            <a:avLst/>
            <a:gdLst/>
            <a:ahLst/>
            <a:cxnLst/>
            <a:rect l="l" t="t" r="r" b="b"/>
            <a:pathLst>
              <a:path w="8936182" h="1508614">
                <a:moveTo>
                  <a:pt x="0" y="0"/>
                </a:moveTo>
                <a:lnTo>
                  <a:pt x="8936182" y="0"/>
                </a:lnTo>
                <a:lnTo>
                  <a:pt x="8936182" y="1508614"/>
                </a:lnTo>
                <a:lnTo>
                  <a:pt x="0" y="1508614"/>
                </a:lnTo>
                <a:lnTo>
                  <a:pt x="0" y="0"/>
                </a:lnTo>
                <a:close/>
              </a:path>
            </a:pathLst>
          </a:custGeom>
          <a:blipFill>
            <a:blip r:embed="rId8"/>
            <a:stretch>
              <a:fillRect/>
            </a:stretch>
          </a:blipFill>
        </p:spPr>
      </p:sp>
      <p:sp>
        <p:nvSpPr>
          <p:cNvPr id="18" name="TextBox 18"/>
          <p:cNvSpPr txBox="1"/>
          <p:nvPr/>
        </p:nvSpPr>
        <p:spPr>
          <a:xfrm>
            <a:off x="959423" y="8469690"/>
            <a:ext cx="655582" cy="524002"/>
          </a:xfrm>
          <a:prstGeom prst="rect">
            <a:avLst/>
          </a:prstGeom>
        </p:spPr>
        <p:txBody>
          <a:bodyPr lIns="0" tIns="0" rIns="0" bIns="0" rtlCol="0" anchor="t">
            <a:spAutoFit/>
          </a:bodyPr>
          <a:lstStyle/>
          <a:p>
            <a:pPr algn="ctr">
              <a:lnSpc>
                <a:spcPts val="3955"/>
              </a:lnSpc>
            </a:pPr>
            <a:r>
              <a:rPr lang="en-US" sz="3955" b="1" spc="-79">
                <a:solidFill>
                  <a:srgbClr val="051638"/>
                </a:solidFill>
                <a:latin typeface="Inter Bold"/>
                <a:ea typeface="Inter Bold"/>
                <a:cs typeface="Inter Bold"/>
                <a:sym typeface="Inter Bold"/>
              </a:rPr>
              <a:t>05</a:t>
            </a:r>
          </a:p>
        </p:txBody>
      </p:sp>
      <p:sp>
        <p:nvSpPr>
          <p:cNvPr id="19" name="TextBox 19"/>
          <p:cNvSpPr txBox="1"/>
          <p:nvPr/>
        </p:nvSpPr>
        <p:spPr>
          <a:xfrm>
            <a:off x="2126587" y="8167163"/>
            <a:ext cx="4332674" cy="902689"/>
          </a:xfrm>
          <a:prstGeom prst="rect">
            <a:avLst/>
          </a:prstGeom>
        </p:spPr>
        <p:txBody>
          <a:bodyPr lIns="0" tIns="0" rIns="0" bIns="0" rtlCol="0" anchor="t">
            <a:spAutoFit/>
          </a:bodyPr>
          <a:lstStyle/>
          <a:p>
            <a:pPr algn="l">
              <a:lnSpc>
                <a:spcPts val="3620"/>
              </a:lnSpc>
            </a:pPr>
            <a:r>
              <a:rPr lang="en-US" sz="2896" spc="-86">
                <a:solidFill>
                  <a:srgbClr val="FFFFFF"/>
                </a:solidFill>
                <a:latin typeface="Inter"/>
                <a:ea typeface="Inter"/>
                <a:cs typeface="Inter"/>
                <a:sym typeface="Inter"/>
              </a:rPr>
              <a:t>Scalable and user-friendly</a:t>
            </a:r>
          </a:p>
          <a:p>
            <a:pPr algn="l">
              <a:lnSpc>
                <a:spcPts val="3620"/>
              </a:lnSpc>
            </a:pPr>
            <a:r>
              <a:rPr lang="en-US" sz="2896" spc="-86">
                <a:solidFill>
                  <a:srgbClr val="FFFFFF"/>
                </a:solidFill>
                <a:latin typeface="Inter"/>
                <a:ea typeface="Inter"/>
                <a:cs typeface="Inter"/>
                <a:sym typeface="Inter"/>
              </a:rPr>
              <a:t>system design</a:t>
            </a:r>
          </a:p>
        </p:txBody>
      </p:sp>
      <p:sp>
        <p:nvSpPr>
          <p:cNvPr id="20" name="Freeform 20"/>
          <p:cNvSpPr/>
          <p:nvPr/>
        </p:nvSpPr>
        <p:spPr>
          <a:xfrm>
            <a:off x="10226842" y="1705390"/>
            <a:ext cx="7853340" cy="7510275"/>
          </a:xfrm>
          <a:custGeom>
            <a:avLst/>
            <a:gdLst/>
            <a:ahLst/>
            <a:cxnLst/>
            <a:rect l="l" t="t" r="r" b="b"/>
            <a:pathLst>
              <a:path w="7853340" h="7510275">
                <a:moveTo>
                  <a:pt x="0" y="0"/>
                </a:moveTo>
                <a:lnTo>
                  <a:pt x="7853340" y="0"/>
                </a:lnTo>
                <a:lnTo>
                  <a:pt x="7853340" y="7510275"/>
                </a:lnTo>
                <a:lnTo>
                  <a:pt x="0" y="7510275"/>
                </a:lnTo>
                <a:lnTo>
                  <a:pt x="0" y="0"/>
                </a:lnTo>
                <a:close/>
              </a:path>
            </a:pathLst>
          </a:custGeom>
          <a:blipFill>
            <a:blip r:embed="rId9"/>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70456" y="905781"/>
            <a:ext cx="7248108" cy="1062492"/>
          </a:xfrm>
          <a:prstGeom prst="rect">
            <a:avLst/>
          </a:prstGeom>
        </p:spPr>
        <p:txBody>
          <a:bodyPr lIns="0" tIns="0" rIns="0" bIns="0" rtlCol="0" anchor="t">
            <a:spAutoFit/>
          </a:bodyPr>
          <a:lstStyle/>
          <a:p>
            <a:pPr algn="l">
              <a:lnSpc>
                <a:spcPts val="8324"/>
              </a:lnSpc>
            </a:pPr>
            <a:r>
              <a:rPr lang="en-US" sz="6935" b="1" spc="-206">
                <a:solidFill>
                  <a:srgbClr val="F6F6F6"/>
                </a:solidFill>
                <a:latin typeface="Inter Bold"/>
                <a:ea typeface="Inter Bold"/>
                <a:cs typeface="Inter Bold"/>
                <a:sym typeface="Inter Bold"/>
              </a:rPr>
              <a:t>Proposed System</a:t>
            </a:r>
          </a:p>
        </p:txBody>
      </p:sp>
      <p:sp>
        <p:nvSpPr>
          <p:cNvPr id="4" name="TextBox 4"/>
          <p:cNvSpPr txBox="1"/>
          <p:nvPr/>
        </p:nvSpPr>
        <p:spPr>
          <a:xfrm>
            <a:off x="586689" y="2177029"/>
            <a:ext cx="5624836" cy="1009035"/>
          </a:xfrm>
          <a:prstGeom prst="rect">
            <a:avLst/>
          </a:prstGeom>
        </p:spPr>
        <p:txBody>
          <a:bodyPr lIns="0" tIns="0" rIns="0" bIns="0" rtlCol="0" anchor="t">
            <a:spAutoFit/>
          </a:bodyPr>
          <a:lstStyle/>
          <a:p>
            <a:pPr algn="l">
              <a:lnSpc>
                <a:spcPts val="3950"/>
              </a:lnSpc>
            </a:pPr>
            <a:r>
              <a:rPr lang="en-US" sz="3291" b="1" spc="-98">
                <a:solidFill>
                  <a:srgbClr val="54A4E8"/>
                </a:solidFill>
                <a:latin typeface="Inter Bold"/>
                <a:ea typeface="Inter Bold"/>
                <a:cs typeface="Inter Bold"/>
                <a:sym typeface="Inter Bold"/>
              </a:rPr>
              <a:t>A unified platform that solves consulting challenges</a:t>
            </a:r>
          </a:p>
        </p:txBody>
      </p:sp>
      <p:sp>
        <p:nvSpPr>
          <p:cNvPr id="5" name="Freeform 5"/>
          <p:cNvSpPr/>
          <p:nvPr/>
        </p:nvSpPr>
        <p:spPr>
          <a:xfrm>
            <a:off x="645330" y="3421712"/>
            <a:ext cx="1104718" cy="229572"/>
          </a:xfrm>
          <a:custGeom>
            <a:avLst/>
            <a:gdLst/>
            <a:ahLst/>
            <a:cxnLst/>
            <a:rect l="l" t="t" r="r" b="b"/>
            <a:pathLst>
              <a:path w="1104718" h="229572">
                <a:moveTo>
                  <a:pt x="0" y="0"/>
                </a:moveTo>
                <a:lnTo>
                  <a:pt x="1104718" y="0"/>
                </a:lnTo>
                <a:lnTo>
                  <a:pt x="1104718" y="229572"/>
                </a:lnTo>
                <a:lnTo>
                  <a:pt x="0" y="229572"/>
                </a:lnTo>
                <a:lnTo>
                  <a:pt x="0" y="0"/>
                </a:lnTo>
                <a:close/>
              </a:path>
            </a:pathLst>
          </a:custGeom>
          <a:blipFill>
            <a:blip r:embed="rId3"/>
            <a:stretch>
              <a:fillRect/>
            </a:stretch>
          </a:blipFill>
        </p:spPr>
      </p:sp>
      <p:sp>
        <p:nvSpPr>
          <p:cNvPr id="6" name="TextBox 6"/>
          <p:cNvSpPr txBox="1"/>
          <p:nvPr/>
        </p:nvSpPr>
        <p:spPr>
          <a:xfrm>
            <a:off x="621454" y="3965097"/>
            <a:ext cx="4827298" cy="1123335"/>
          </a:xfrm>
          <a:prstGeom prst="rect">
            <a:avLst/>
          </a:prstGeom>
        </p:spPr>
        <p:txBody>
          <a:bodyPr lIns="0" tIns="0" rIns="0" bIns="0" rtlCol="0" anchor="t">
            <a:spAutoFit/>
          </a:bodyPr>
          <a:lstStyle/>
          <a:p>
            <a:pPr algn="l">
              <a:lnSpc>
                <a:spcPts val="3055"/>
              </a:lnSpc>
            </a:pPr>
            <a:r>
              <a:rPr lang="en-US" sz="2351" b="1" spc="-70">
                <a:solidFill>
                  <a:srgbClr val="54A4E8"/>
                </a:solidFill>
                <a:latin typeface="Inter Bold"/>
                <a:ea typeface="Inter Bold"/>
                <a:cs typeface="Inter Bold"/>
                <a:sym typeface="Inter Bold"/>
              </a:rPr>
              <a:t>One integrated interface</a:t>
            </a:r>
            <a:r>
              <a:rPr lang="en-US" sz="2351" spc="-70">
                <a:solidFill>
                  <a:srgbClr val="F6F6F6"/>
                </a:solidFill>
                <a:latin typeface="Inter"/>
                <a:ea typeface="Inter"/>
                <a:cs typeface="Inter"/>
                <a:sym typeface="Inter"/>
              </a:rPr>
              <a:t> that brings clients, projects, knowledge, and analytics together</a:t>
            </a:r>
          </a:p>
        </p:txBody>
      </p:sp>
      <p:sp>
        <p:nvSpPr>
          <p:cNvPr id="7" name="TextBox 7"/>
          <p:cNvSpPr txBox="1"/>
          <p:nvPr/>
        </p:nvSpPr>
        <p:spPr>
          <a:xfrm>
            <a:off x="589208" y="5365755"/>
            <a:ext cx="5372954" cy="748487"/>
          </a:xfrm>
          <a:prstGeom prst="rect">
            <a:avLst/>
          </a:prstGeom>
        </p:spPr>
        <p:txBody>
          <a:bodyPr lIns="0" tIns="0" rIns="0" bIns="0" rtlCol="0" anchor="t">
            <a:spAutoFit/>
          </a:bodyPr>
          <a:lstStyle/>
          <a:p>
            <a:pPr algn="l">
              <a:lnSpc>
                <a:spcPts val="3055"/>
              </a:lnSpc>
            </a:pPr>
            <a:r>
              <a:rPr lang="en-US" sz="2351" b="1" spc="-70">
                <a:solidFill>
                  <a:srgbClr val="54A4E8"/>
                </a:solidFill>
                <a:latin typeface="Inter Bold"/>
                <a:ea typeface="Inter Bold"/>
                <a:cs typeface="Inter Bold"/>
                <a:sym typeface="Inter Bold"/>
              </a:rPr>
              <a:t>Automated tracking</a:t>
            </a:r>
            <a:r>
              <a:rPr lang="en-US" sz="2351" spc="-70">
                <a:solidFill>
                  <a:srgbClr val="F6F6F6"/>
                </a:solidFill>
                <a:latin typeface="Inter"/>
                <a:ea typeface="Inter"/>
                <a:cs typeface="Inter"/>
                <a:sym typeface="Inter"/>
              </a:rPr>
              <a:t> and notifications to keep projects on schedule</a:t>
            </a:r>
          </a:p>
        </p:txBody>
      </p:sp>
      <p:sp>
        <p:nvSpPr>
          <p:cNvPr id="8" name="TextBox 8"/>
          <p:cNvSpPr txBox="1"/>
          <p:nvPr/>
        </p:nvSpPr>
        <p:spPr>
          <a:xfrm>
            <a:off x="592814" y="6404953"/>
            <a:ext cx="5012307" cy="748487"/>
          </a:xfrm>
          <a:prstGeom prst="rect">
            <a:avLst/>
          </a:prstGeom>
        </p:spPr>
        <p:txBody>
          <a:bodyPr lIns="0" tIns="0" rIns="0" bIns="0" rtlCol="0" anchor="t">
            <a:spAutoFit/>
          </a:bodyPr>
          <a:lstStyle/>
          <a:p>
            <a:pPr algn="l">
              <a:lnSpc>
                <a:spcPts val="3055"/>
              </a:lnSpc>
            </a:pPr>
            <a:r>
              <a:rPr lang="en-US" sz="2351" b="1" spc="-70">
                <a:solidFill>
                  <a:srgbClr val="54A4E8"/>
                </a:solidFill>
                <a:latin typeface="Inter Bold"/>
                <a:ea typeface="Inter Bold"/>
                <a:cs typeface="Inter Bold"/>
                <a:sym typeface="Inter Bold"/>
              </a:rPr>
              <a:t>Centralized knowledge repository</a:t>
            </a:r>
            <a:r>
              <a:rPr lang="en-US" sz="2351" spc="-70">
                <a:solidFill>
                  <a:srgbClr val="F6F6F6"/>
                </a:solidFill>
                <a:latin typeface="Inter"/>
                <a:ea typeface="Inter"/>
                <a:cs typeface="Inter"/>
                <a:sym typeface="Inter"/>
              </a:rPr>
              <a:t> for instant, enterprise-wide access</a:t>
            </a:r>
          </a:p>
        </p:txBody>
      </p:sp>
      <p:sp>
        <p:nvSpPr>
          <p:cNvPr id="9" name="TextBox 9"/>
          <p:cNvSpPr txBox="1"/>
          <p:nvPr/>
        </p:nvSpPr>
        <p:spPr>
          <a:xfrm>
            <a:off x="594280" y="7458961"/>
            <a:ext cx="4865780" cy="748988"/>
          </a:xfrm>
          <a:prstGeom prst="rect">
            <a:avLst/>
          </a:prstGeom>
        </p:spPr>
        <p:txBody>
          <a:bodyPr lIns="0" tIns="0" rIns="0" bIns="0" rtlCol="0" anchor="t">
            <a:spAutoFit/>
          </a:bodyPr>
          <a:lstStyle/>
          <a:p>
            <a:pPr algn="l">
              <a:lnSpc>
                <a:spcPts val="3004"/>
              </a:lnSpc>
            </a:pPr>
            <a:r>
              <a:rPr lang="en-US" sz="2311" b="1" spc="-68">
                <a:solidFill>
                  <a:srgbClr val="54A4E8"/>
                </a:solidFill>
                <a:latin typeface="Inter Bold"/>
                <a:ea typeface="Inter Bold"/>
                <a:cs typeface="Inter Bold"/>
                <a:sym typeface="Inter Bold"/>
              </a:rPr>
              <a:t>Analytics dashboard</a:t>
            </a:r>
            <a:r>
              <a:rPr lang="en-US" sz="2311" spc="-68">
                <a:solidFill>
                  <a:srgbClr val="F6F6F6"/>
                </a:solidFill>
                <a:latin typeface="Inter"/>
                <a:ea typeface="Inter"/>
                <a:cs typeface="Inter"/>
                <a:sym typeface="Inter"/>
              </a:rPr>
              <a:t> for data-driven insights and smarter decisions</a:t>
            </a:r>
          </a:p>
        </p:txBody>
      </p:sp>
      <p:sp>
        <p:nvSpPr>
          <p:cNvPr id="10" name="TextBox 10"/>
          <p:cNvSpPr txBox="1"/>
          <p:nvPr/>
        </p:nvSpPr>
        <p:spPr>
          <a:xfrm>
            <a:off x="586866" y="8513471"/>
            <a:ext cx="5607118" cy="748487"/>
          </a:xfrm>
          <a:prstGeom prst="rect">
            <a:avLst/>
          </a:prstGeom>
        </p:spPr>
        <p:txBody>
          <a:bodyPr lIns="0" tIns="0" rIns="0" bIns="0" rtlCol="0" anchor="t">
            <a:spAutoFit/>
          </a:bodyPr>
          <a:lstStyle/>
          <a:p>
            <a:pPr algn="l">
              <a:lnSpc>
                <a:spcPts val="3055"/>
              </a:lnSpc>
            </a:pPr>
            <a:r>
              <a:rPr lang="en-US" sz="2351" b="1" spc="-70">
                <a:solidFill>
                  <a:srgbClr val="54A4E8"/>
                </a:solidFill>
                <a:latin typeface="Inter Bold"/>
                <a:ea typeface="Inter Bold"/>
                <a:cs typeface="Inter Bold"/>
                <a:sym typeface="Inter Bold"/>
              </a:rPr>
              <a:t>Planned features</a:t>
            </a:r>
            <a:r>
              <a:rPr lang="en-US" sz="2351" spc="-70">
                <a:solidFill>
                  <a:srgbClr val="F6F6F6"/>
                </a:solidFill>
                <a:latin typeface="Inter"/>
                <a:ea typeface="Inter"/>
                <a:cs typeface="Inter"/>
                <a:sym typeface="Inter"/>
              </a:rPr>
              <a:t> like AI-powered insights to unlock future value</a:t>
            </a:r>
          </a:p>
        </p:txBody>
      </p:sp>
      <p:sp>
        <p:nvSpPr>
          <p:cNvPr id="11" name="Freeform 11"/>
          <p:cNvSpPr/>
          <p:nvPr/>
        </p:nvSpPr>
        <p:spPr>
          <a:xfrm>
            <a:off x="8706488" y="3214004"/>
            <a:ext cx="8498670" cy="6001661"/>
          </a:xfrm>
          <a:custGeom>
            <a:avLst/>
            <a:gdLst/>
            <a:ahLst/>
            <a:cxnLst/>
            <a:rect l="l" t="t" r="r" b="b"/>
            <a:pathLst>
              <a:path w="8498670" h="6001661">
                <a:moveTo>
                  <a:pt x="0" y="0"/>
                </a:moveTo>
                <a:lnTo>
                  <a:pt x="8498670" y="0"/>
                </a:lnTo>
                <a:lnTo>
                  <a:pt x="8498670" y="6001661"/>
                </a:lnTo>
                <a:lnTo>
                  <a:pt x="0" y="6001661"/>
                </a:lnTo>
                <a:lnTo>
                  <a:pt x="0" y="0"/>
                </a:lnTo>
                <a:close/>
              </a:path>
            </a:pathLst>
          </a:custGeom>
          <a:blipFill>
            <a:blip r:embed="rId4"/>
            <a:stretch>
              <a:fillRect/>
            </a:stretch>
          </a:blipFill>
        </p:spPr>
      </p:sp>
      <p:sp>
        <p:nvSpPr>
          <p:cNvPr id="12" name="Freeform 12"/>
          <p:cNvSpPr/>
          <p:nvPr/>
        </p:nvSpPr>
        <p:spPr>
          <a:xfrm>
            <a:off x="9144000" y="852695"/>
            <a:ext cx="1750048" cy="1082267"/>
          </a:xfrm>
          <a:custGeom>
            <a:avLst/>
            <a:gdLst/>
            <a:ahLst/>
            <a:cxnLst/>
            <a:rect l="l" t="t" r="r" b="b"/>
            <a:pathLst>
              <a:path w="1750048" h="1082267">
                <a:moveTo>
                  <a:pt x="0" y="0"/>
                </a:moveTo>
                <a:lnTo>
                  <a:pt x="1750048" y="0"/>
                </a:lnTo>
                <a:lnTo>
                  <a:pt x="1750048" y="1082267"/>
                </a:lnTo>
                <a:lnTo>
                  <a:pt x="0" y="1082267"/>
                </a:lnTo>
                <a:lnTo>
                  <a:pt x="0" y="0"/>
                </a:lnTo>
                <a:close/>
              </a:path>
            </a:pathLst>
          </a:custGeom>
          <a:blipFill>
            <a:blip r:embed="rId5"/>
            <a:stretch>
              <a:fillRect/>
            </a:stretch>
          </a:blipFill>
        </p:spPr>
      </p:sp>
      <p:sp>
        <p:nvSpPr>
          <p:cNvPr id="13" name="TextBox 13"/>
          <p:cNvSpPr txBox="1"/>
          <p:nvPr/>
        </p:nvSpPr>
        <p:spPr>
          <a:xfrm>
            <a:off x="9242227" y="1226228"/>
            <a:ext cx="1714500" cy="313132"/>
          </a:xfrm>
          <a:prstGeom prst="rect">
            <a:avLst/>
          </a:prstGeom>
        </p:spPr>
        <p:txBody>
          <a:bodyPr lIns="0" tIns="0" rIns="0" bIns="0" rtlCol="0" anchor="t">
            <a:spAutoFit/>
          </a:bodyPr>
          <a:lstStyle/>
          <a:p>
            <a:pPr algn="ctr">
              <a:lnSpc>
                <a:spcPts val="2479"/>
              </a:lnSpc>
            </a:pPr>
            <a:r>
              <a:rPr lang="en-US" sz="2254" b="1" spc="-67">
                <a:solidFill>
                  <a:srgbClr val="F6F6F6"/>
                </a:solidFill>
                <a:latin typeface="Inter Bold"/>
                <a:ea typeface="Inter Bold"/>
                <a:cs typeface="Inter Bold"/>
                <a:sym typeface="Inter Bold"/>
              </a:rPr>
              <a:t>CLIENTS</a:t>
            </a:r>
          </a:p>
        </p:txBody>
      </p:sp>
      <p:sp>
        <p:nvSpPr>
          <p:cNvPr id="14" name="Freeform 14"/>
          <p:cNvSpPr/>
          <p:nvPr/>
        </p:nvSpPr>
        <p:spPr>
          <a:xfrm>
            <a:off x="9789330" y="1705390"/>
            <a:ext cx="2843828" cy="1945894"/>
          </a:xfrm>
          <a:custGeom>
            <a:avLst/>
            <a:gdLst/>
            <a:ahLst/>
            <a:cxnLst/>
            <a:rect l="l" t="t" r="r" b="b"/>
            <a:pathLst>
              <a:path w="2843828" h="1945894">
                <a:moveTo>
                  <a:pt x="0" y="0"/>
                </a:moveTo>
                <a:lnTo>
                  <a:pt x="2843828" y="0"/>
                </a:lnTo>
                <a:lnTo>
                  <a:pt x="2843828" y="1945894"/>
                </a:lnTo>
                <a:lnTo>
                  <a:pt x="0" y="1945894"/>
                </a:lnTo>
                <a:lnTo>
                  <a:pt x="0" y="0"/>
                </a:lnTo>
                <a:close/>
              </a:path>
            </a:pathLst>
          </a:custGeom>
          <a:blipFill>
            <a:blip r:embed="rId6"/>
            <a:stretch>
              <a:fillRect/>
            </a:stretch>
          </a:blipFill>
        </p:spPr>
      </p:sp>
      <p:sp>
        <p:nvSpPr>
          <p:cNvPr id="15" name="Freeform 15"/>
          <p:cNvSpPr/>
          <p:nvPr/>
        </p:nvSpPr>
        <p:spPr>
          <a:xfrm>
            <a:off x="11101866" y="852695"/>
            <a:ext cx="1968804" cy="1082267"/>
          </a:xfrm>
          <a:custGeom>
            <a:avLst/>
            <a:gdLst/>
            <a:ahLst/>
            <a:cxnLst/>
            <a:rect l="l" t="t" r="r" b="b"/>
            <a:pathLst>
              <a:path w="1968804" h="1082267">
                <a:moveTo>
                  <a:pt x="0" y="0"/>
                </a:moveTo>
                <a:lnTo>
                  <a:pt x="1968804" y="0"/>
                </a:lnTo>
                <a:lnTo>
                  <a:pt x="1968804" y="1082267"/>
                </a:lnTo>
                <a:lnTo>
                  <a:pt x="0" y="1082267"/>
                </a:lnTo>
                <a:lnTo>
                  <a:pt x="0" y="0"/>
                </a:lnTo>
                <a:close/>
              </a:path>
            </a:pathLst>
          </a:custGeom>
          <a:blipFill>
            <a:blip r:embed="rId7"/>
            <a:stretch>
              <a:fillRect/>
            </a:stretch>
          </a:blipFill>
        </p:spPr>
      </p:sp>
      <p:sp>
        <p:nvSpPr>
          <p:cNvPr id="16" name="TextBox 16"/>
          <p:cNvSpPr txBox="1"/>
          <p:nvPr/>
        </p:nvSpPr>
        <p:spPr>
          <a:xfrm>
            <a:off x="11117461" y="1226228"/>
            <a:ext cx="1875234" cy="313132"/>
          </a:xfrm>
          <a:prstGeom prst="rect">
            <a:avLst/>
          </a:prstGeom>
        </p:spPr>
        <p:txBody>
          <a:bodyPr lIns="0" tIns="0" rIns="0" bIns="0" rtlCol="0" anchor="t">
            <a:spAutoFit/>
          </a:bodyPr>
          <a:lstStyle/>
          <a:p>
            <a:pPr algn="ctr">
              <a:lnSpc>
                <a:spcPts val="2479"/>
              </a:lnSpc>
            </a:pPr>
            <a:r>
              <a:rPr lang="en-US" sz="2254" b="1" spc="-67">
                <a:solidFill>
                  <a:srgbClr val="F6F6F6"/>
                </a:solidFill>
                <a:latin typeface="Inter Bold"/>
                <a:ea typeface="Inter Bold"/>
                <a:cs typeface="Inter Bold"/>
                <a:sym typeface="Inter Bold"/>
              </a:rPr>
              <a:t>PROJECTS</a:t>
            </a:r>
          </a:p>
        </p:txBody>
      </p:sp>
      <p:sp>
        <p:nvSpPr>
          <p:cNvPr id="17" name="Freeform 17"/>
          <p:cNvSpPr/>
          <p:nvPr/>
        </p:nvSpPr>
        <p:spPr>
          <a:xfrm>
            <a:off x="11747196" y="1705390"/>
            <a:ext cx="1323474" cy="1945894"/>
          </a:xfrm>
          <a:custGeom>
            <a:avLst/>
            <a:gdLst/>
            <a:ahLst/>
            <a:cxnLst/>
            <a:rect l="l" t="t" r="r" b="b"/>
            <a:pathLst>
              <a:path w="1323474" h="1945894">
                <a:moveTo>
                  <a:pt x="0" y="0"/>
                </a:moveTo>
                <a:lnTo>
                  <a:pt x="1323474" y="0"/>
                </a:lnTo>
                <a:lnTo>
                  <a:pt x="1323474" y="1945894"/>
                </a:lnTo>
                <a:lnTo>
                  <a:pt x="0" y="1945894"/>
                </a:lnTo>
                <a:lnTo>
                  <a:pt x="0" y="0"/>
                </a:lnTo>
                <a:close/>
              </a:path>
            </a:pathLst>
          </a:custGeom>
          <a:blipFill>
            <a:blip r:embed="rId8"/>
            <a:stretch>
              <a:fillRect/>
            </a:stretch>
          </a:blipFill>
        </p:spPr>
      </p:sp>
      <p:sp>
        <p:nvSpPr>
          <p:cNvPr id="18" name="Freeform 18"/>
          <p:cNvSpPr/>
          <p:nvPr/>
        </p:nvSpPr>
        <p:spPr>
          <a:xfrm>
            <a:off x="13059732" y="852695"/>
            <a:ext cx="2406316" cy="1082267"/>
          </a:xfrm>
          <a:custGeom>
            <a:avLst/>
            <a:gdLst/>
            <a:ahLst/>
            <a:cxnLst/>
            <a:rect l="l" t="t" r="r" b="b"/>
            <a:pathLst>
              <a:path w="2406316" h="1082267">
                <a:moveTo>
                  <a:pt x="0" y="0"/>
                </a:moveTo>
                <a:lnTo>
                  <a:pt x="2406316" y="0"/>
                </a:lnTo>
                <a:lnTo>
                  <a:pt x="2406316" y="1082267"/>
                </a:lnTo>
                <a:lnTo>
                  <a:pt x="0" y="1082267"/>
                </a:lnTo>
                <a:lnTo>
                  <a:pt x="0" y="0"/>
                </a:lnTo>
                <a:close/>
              </a:path>
            </a:pathLst>
          </a:custGeom>
          <a:blipFill>
            <a:blip r:embed="rId9"/>
            <a:stretch>
              <a:fillRect/>
            </a:stretch>
          </a:blipFill>
        </p:spPr>
      </p:sp>
      <p:sp>
        <p:nvSpPr>
          <p:cNvPr id="19" name="TextBox 19"/>
          <p:cNvSpPr txBox="1"/>
          <p:nvPr/>
        </p:nvSpPr>
        <p:spPr>
          <a:xfrm>
            <a:off x="13260586" y="1226228"/>
            <a:ext cx="2009180" cy="313132"/>
          </a:xfrm>
          <a:prstGeom prst="rect">
            <a:avLst/>
          </a:prstGeom>
        </p:spPr>
        <p:txBody>
          <a:bodyPr lIns="0" tIns="0" rIns="0" bIns="0" rtlCol="0" anchor="t">
            <a:spAutoFit/>
          </a:bodyPr>
          <a:lstStyle/>
          <a:p>
            <a:pPr algn="ctr">
              <a:lnSpc>
                <a:spcPts val="2479"/>
              </a:lnSpc>
            </a:pPr>
            <a:r>
              <a:rPr lang="en-US" sz="2254" b="1" spc="-67">
                <a:solidFill>
                  <a:srgbClr val="F6F6F6"/>
                </a:solidFill>
                <a:latin typeface="Inter Bold"/>
                <a:ea typeface="Inter Bold"/>
                <a:cs typeface="Inter Bold"/>
                <a:sym typeface="Inter Bold"/>
              </a:rPr>
              <a:t>KNOWLEDGE</a:t>
            </a:r>
          </a:p>
        </p:txBody>
      </p:sp>
      <p:sp>
        <p:nvSpPr>
          <p:cNvPr id="20" name="Freeform 20"/>
          <p:cNvSpPr/>
          <p:nvPr/>
        </p:nvSpPr>
        <p:spPr>
          <a:xfrm>
            <a:off x="13059732" y="1705390"/>
            <a:ext cx="1312536" cy="1945894"/>
          </a:xfrm>
          <a:custGeom>
            <a:avLst/>
            <a:gdLst/>
            <a:ahLst/>
            <a:cxnLst/>
            <a:rect l="l" t="t" r="r" b="b"/>
            <a:pathLst>
              <a:path w="1312536" h="1945894">
                <a:moveTo>
                  <a:pt x="0" y="0"/>
                </a:moveTo>
                <a:lnTo>
                  <a:pt x="1312536" y="0"/>
                </a:lnTo>
                <a:lnTo>
                  <a:pt x="1312536" y="1945894"/>
                </a:lnTo>
                <a:lnTo>
                  <a:pt x="0" y="1945894"/>
                </a:lnTo>
                <a:lnTo>
                  <a:pt x="0" y="0"/>
                </a:lnTo>
                <a:close/>
              </a:path>
            </a:pathLst>
          </a:custGeom>
          <a:blipFill>
            <a:blip r:embed="rId10"/>
            <a:stretch>
              <a:fillRect/>
            </a:stretch>
          </a:blipFill>
        </p:spPr>
      </p:sp>
      <p:sp>
        <p:nvSpPr>
          <p:cNvPr id="21" name="Freeform 21"/>
          <p:cNvSpPr/>
          <p:nvPr/>
        </p:nvSpPr>
        <p:spPr>
          <a:xfrm>
            <a:off x="15455110" y="852695"/>
            <a:ext cx="2187560" cy="1082267"/>
          </a:xfrm>
          <a:custGeom>
            <a:avLst/>
            <a:gdLst/>
            <a:ahLst/>
            <a:cxnLst/>
            <a:rect l="l" t="t" r="r" b="b"/>
            <a:pathLst>
              <a:path w="2187560" h="1082267">
                <a:moveTo>
                  <a:pt x="0" y="0"/>
                </a:moveTo>
                <a:lnTo>
                  <a:pt x="2187560" y="0"/>
                </a:lnTo>
                <a:lnTo>
                  <a:pt x="2187560" y="1082267"/>
                </a:lnTo>
                <a:lnTo>
                  <a:pt x="0" y="1082267"/>
                </a:lnTo>
                <a:lnTo>
                  <a:pt x="0" y="0"/>
                </a:lnTo>
                <a:close/>
              </a:path>
            </a:pathLst>
          </a:custGeom>
          <a:blipFill>
            <a:blip r:embed="rId11"/>
            <a:stretch>
              <a:fillRect/>
            </a:stretch>
          </a:blipFill>
        </p:spPr>
      </p:sp>
      <p:sp>
        <p:nvSpPr>
          <p:cNvPr id="22" name="TextBox 22"/>
          <p:cNvSpPr txBox="1"/>
          <p:nvPr/>
        </p:nvSpPr>
        <p:spPr>
          <a:xfrm>
            <a:off x="15644812" y="1059443"/>
            <a:ext cx="1768078" cy="616580"/>
          </a:xfrm>
          <a:prstGeom prst="rect">
            <a:avLst/>
          </a:prstGeom>
        </p:spPr>
        <p:txBody>
          <a:bodyPr lIns="0" tIns="0" rIns="0" bIns="0" rtlCol="0" anchor="t">
            <a:spAutoFit/>
          </a:bodyPr>
          <a:lstStyle/>
          <a:p>
            <a:pPr algn="ctr">
              <a:lnSpc>
                <a:spcPts val="2479"/>
              </a:lnSpc>
            </a:pPr>
            <a:r>
              <a:rPr lang="en-US" sz="2254" b="1" spc="-67">
                <a:solidFill>
                  <a:srgbClr val="F6F6F6"/>
                </a:solidFill>
                <a:latin typeface="Inter Bold"/>
                <a:ea typeface="Inter Bold"/>
                <a:cs typeface="Inter Bold"/>
                <a:sym typeface="Inter Bold"/>
              </a:rPr>
              <a:t>DECISION SUPPORT</a:t>
            </a:r>
          </a:p>
        </p:txBody>
      </p:sp>
      <p:sp>
        <p:nvSpPr>
          <p:cNvPr id="23" name="Freeform 23"/>
          <p:cNvSpPr/>
          <p:nvPr/>
        </p:nvSpPr>
        <p:spPr>
          <a:xfrm>
            <a:off x="14142574" y="1705390"/>
            <a:ext cx="2625072" cy="1082267"/>
          </a:xfrm>
          <a:custGeom>
            <a:avLst/>
            <a:gdLst/>
            <a:ahLst/>
            <a:cxnLst/>
            <a:rect l="l" t="t" r="r" b="b"/>
            <a:pathLst>
              <a:path w="2625072" h="1082267">
                <a:moveTo>
                  <a:pt x="0" y="0"/>
                </a:moveTo>
                <a:lnTo>
                  <a:pt x="2625072" y="0"/>
                </a:lnTo>
                <a:lnTo>
                  <a:pt x="2625072" y="1082267"/>
                </a:lnTo>
                <a:lnTo>
                  <a:pt x="0" y="1082267"/>
                </a:lnTo>
                <a:lnTo>
                  <a:pt x="0" y="0"/>
                </a:lnTo>
                <a:close/>
              </a:path>
            </a:pathLst>
          </a:custGeom>
          <a:blipFill>
            <a:blip r:embed="rId12"/>
            <a:stretch>
              <a:fillRect/>
            </a:stretch>
          </a:blipFill>
        </p:spPr>
      </p:sp>
      <p:sp>
        <p:nvSpPr>
          <p:cNvPr id="24" name="TextBox 24"/>
          <p:cNvSpPr txBox="1"/>
          <p:nvPr/>
        </p:nvSpPr>
        <p:spPr>
          <a:xfrm>
            <a:off x="11570633" y="4084220"/>
            <a:ext cx="2737504" cy="339089"/>
          </a:xfrm>
          <a:prstGeom prst="rect">
            <a:avLst/>
          </a:prstGeom>
        </p:spPr>
        <p:txBody>
          <a:bodyPr lIns="0" tIns="0" rIns="0" bIns="0" rtlCol="0" anchor="t">
            <a:spAutoFit/>
          </a:bodyPr>
          <a:lstStyle/>
          <a:p>
            <a:pPr algn="ctr">
              <a:lnSpc>
                <a:spcPts val="2774"/>
              </a:lnSpc>
            </a:pPr>
            <a:r>
              <a:rPr lang="en-US" sz="2311" b="1" spc="-68">
                <a:solidFill>
                  <a:srgbClr val="F6F6F6"/>
                </a:solidFill>
                <a:latin typeface="Inter Bold"/>
                <a:ea typeface="Inter Bold"/>
                <a:cs typeface="Inter Bold"/>
                <a:sym typeface="Inter Bold"/>
              </a:rPr>
              <a:t>UNIFIED INTERFACE</a:t>
            </a:r>
          </a:p>
        </p:txBody>
      </p:sp>
      <p:sp>
        <p:nvSpPr>
          <p:cNvPr id="25" name="TextBox 25"/>
          <p:cNvSpPr txBox="1"/>
          <p:nvPr/>
        </p:nvSpPr>
        <p:spPr>
          <a:xfrm>
            <a:off x="11279895" y="4933163"/>
            <a:ext cx="3318979" cy="348615"/>
          </a:xfrm>
          <a:prstGeom prst="rect">
            <a:avLst/>
          </a:prstGeom>
        </p:spPr>
        <p:txBody>
          <a:bodyPr lIns="0" tIns="0" rIns="0" bIns="0" rtlCol="0" anchor="t">
            <a:spAutoFit/>
          </a:bodyPr>
          <a:lstStyle/>
          <a:p>
            <a:pPr algn="ctr">
              <a:lnSpc>
                <a:spcPts val="2726"/>
              </a:lnSpc>
            </a:pPr>
            <a:r>
              <a:rPr lang="en-US" sz="2271" b="1" spc="-67">
                <a:solidFill>
                  <a:srgbClr val="F6F6F6"/>
                </a:solidFill>
                <a:latin typeface="Inter Bold"/>
                <a:ea typeface="Inter Bold"/>
                <a:cs typeface="Inter Bold"/>
                <a:sym typeface="Inter Bold"/>
              </a:rPr>
              <a:t>AUTOMATED TRACKING</a:t>
            </a:r>
          </a:p>
        </p:txBody>
      </p:sp>
      <p:sp>
        <p:nvSpPr>
          <p:cNvPr id="26" name="TextBox 26"/>
          <p:cNvSpPr txBox="1"/>
          <p:nvPr/>
        </p:nvSpPr>
        <p:spPr>
          <a:xfrm>
            <a:off x="11079754" y="5801156"/>
            <a:ext cx="3719262" cy="339089"/>
          </a:xfrm>
          <a:prstGeom prst="rect">
            <a:avLst/>
          </a:prstGeom>
        </p:spPr>
        <p:txBody>
          <a:bodyPr lIns="0" tIns="0" rIns="0" bIns="0" rtlCol="0" anchor="t">
            <a:spAutoFit/>
          </a:bodyPr>
          <a:lstStyle/>
          <a:p>
            <a:pPr algn="ctr">
              <a:lnSpc>
                <a:spcPts val="2774"/>
              </a:lnSpc>
            </a:pPr>
            <a:r>
              <a:rPr lang="en-US" sz="2311" b="1" spc="-68">
                <a:solidFill>
                  <a:srgbClr val="F6F6F6"/>
                </a:solidFill>
                <a:latin typeface="Inter Bold"/>
                <a:ea typeface="Inter Bold"/>
                <a:cs typeface="Inter Bold"/>
                <a:sym typeface="Inter Bold"/>
              </a:rPr>
              <a:t>KNOWLEDGE REPOSITORY</a:t>
            </a:r>
          </a:p>
        </p:txBody>
      </p:sp>
      <p:sp>
        <p:nvSpPr>
          <p:cNvPr id="27" name="TextBox 27"/>
          <p:cNvSpPr txBox="1"/>
          <p:nvPr/>
        </p:nvSpPr>
        <p:spPr>
          <a:xfrm>
            <a:off x="11210186" y="6635038"/>
            <a:ext cx="3458399" cy="348615"/>
          </a:xfrm>
          <a:prstGeom prst="rect">
            <a:avLst/>
          </a:prstGeom>
        </p:spPr>
        <p:txBody>
          <a:bodyPr lIns="0" tIns="0" rIns="0" bIns="0" rtlCol="0" anchor="t">
            <a:spAutoFit/>
          </a:bodyPr>
          <a:lstStyle/>
          <a:p>
            <a:pPr algn="ctr">
              <a:lnSpc>
                <a:spcPts val="2726"/>
              </a:lnSpc>
            </a:pPr>
            <a:r>
              <a:rPr lang="en-US" sz="2271" b="1" spc="-67">
                <a:solidFill>
                  <a:srgbClr val="F6F6F6"/>
                </a:solidFill>
                <a:latin typeface="Inter Bold"/>
                <a:ea typeface="Inter Bold"/>
                <a:cs typeface="Inter Bold"/>
                <a:sym typeface="Inter Bold"/>
              </a:rPr>
              <a:t>ANALYTICS DASHBOARD</a:t>
            </a:r>
          </a:p>
        </p:txBody>
      </p:sp>
      <p:sp>
        <p:nvSpPr>
          <p:cNvPr id="28" name="TextBox 28"/>
          <p:cNvSpPr txBox="1"/>
          <p:nvPr/>
        </p:nvSpPr>
        <p:spPr>
          <a:xfrm>
            <a:off x="11327682" y="7478445"/>
            <a:ext cx="3223405" cy="687763"/>
          </a:xfrm>
          <a:prstGeom prst="rect">
            <a:avLst/>
          </a:prstGeom>
        </p:spPr>
        <p:txBody>
          <a:bodyPr lIns="0" tIns="0" rIns="0" bIns="0" rtlCol="0" anchor="t">
            <a:spAutoFit/>
          </a:bodyPr>
          <a:lstStyle/>
          <a:p>
            <a:pPr algn="ctr">
              <a:lnSpc>
                <a:spcPts val="2726"/>
              </a:lnSpc>
            </a:pPr>
            <a:r>
              <a:rPr lang="en-US" sz="2271" b="1" spc="-67">
                <a:solidFill>
                  <a:srgbClr val="F6F6F6"/>
                </a:solidFill>
                <a:latin typeface="Inter Bold"/>
                <a:ea typeface="Inter Bold"/>
                <a:cs typeface="Inter Bold"/>
                <a:sym typeface="Inter Bold"/>
              </a:rPr>
              <a:t>AI-POWERED INSIGHTS</a:t>
            </a:r>
          </a:p>
          <a:p>
            <a:pPr algn="ctr">
              <a:lnSpc>
                <a:spcPts val="2726"/>
              </a:lnSpc>
            </a:pPr>
            <a:r>
              <a:rPr lang="en-US" sz="2271" spc="-67">
                <a:solidFill>
                  <a:srgbClr val="F6F6F6"/>
                </a:solidFill>
                <a:latin typeface="Inter"/>
                <a:ea typeface="Inter"/>
                <a:cs typeface="Inter"/>
                <a:sym typeface="Inter"/>
              </a:rPr>
              <a:t>PLANNED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12013" y="590105"/>
            <a:ext cx="7734653" cy="1052966"/>
          </a:xfrm>
          <a:prstGeom prst="rect">
            <a:avLst/>
          </a:prstGeom>
        </p:spPr>
        <p:txBody>
          <a:bodyPr lIns="0" tIns="0" rIns="0" bIns="0" rtlCol="0" anchor="t">
            <a:spAutoFit/>
          </a:bodyPr>
          <a:lstStyle/>
          <a:p>
            <a:pPr algn="l">
              <a:lnSpc>
                <a:spcPts val="8383"/>
              </a:lnSpc>
            </a:pPr>
            <a:r>
              <a:rPr lang="en-US" sz="6985" b="1" spc="-487">
                <a:solidFill>
                  <a:srgbClr val="F4F4F4"/>
                </a:solidFill>
                <a:latin typeface="Inter Semi-Bold"/>
                <a:ea typeface="Inter Semi-Bold"/>
                <a:cs typeface="Inter Semi-Bold"/>
                <a:sym typeface="Inter Semi-Bold"/>
              </a:rPr>
              <a:t>System Architecture</a:t>
            </a:r>
          </a:p>
        </p:txBody>
      </p:sp>
      <p:sp>
        <p:nvSpPr>
          <p:cNvPr id="4" name="Freeform 4"/>
          <p:cNvSpPr/>
          <p:nvPr/>
        </p:nvSpPr>
        <p:spPr>
          <a:xfrm>
            <a:off x="426574" y="1705390"/>
            <a:ext cx="1542230" cy="229572"/>
          </a:xfrm>
          <a:custGeom>
            <a:avLst/>
            <a:gdLst/>
            <a:ahLst/>
            <a:cxnLst/>
            <a:rect l="l" t="t" r="r" b="b"/>
            <a:pathLst>
              <a:path w="1542230" h="229572">
                <a:moveTo>
                  <a:pt x="0" y="0"/>
                </a:moveTo>
                <a:lnTo>
                  <a:pt x="1542230" y="0"/>
                </a:lnTo>
                <a:lnTo>
                  <a:pt x="1542230" y="229572"/>
                </a:lnTo>
                <a:lnTo>
                  <a:pt x="0" y="229572"/>
                </a:lnTo>
                <a:lnTo>
                  <a:pt x="0" y="0"/>
                </a:lnTo>
                <a:close/>
              </a:path>
            </a:pathLst>
          </a:custGeom>
          <a:blipFill>
            <a:blip r:embed="rId3"/>
            <a:stretch>
              <a:fillRect/>
            </a:stretch>
          </a:blipFill>
        </p:spPr>
      </p:sp>
      <p:sp>
        <p:nvSpPr>
          <p:cNvPr id="5" name="TextBox 5"/>
          <p:cNvSpPr txBox="1"/>
          <p:nvPr/>
        </p:nvSpPr>
        <p:spPr>
          <a:xfrm>
            <a:off x="525227" y="2186554"/>
            <a:ext cx="6413262" cy="1552852"/>
          </a:xfrm>
          <a:prstGeom prst="rect">
            <a:avLst/>
          </a:prstGeom>
        </p:spPr>
        <p:txBody>
          <a:bodyPr lIns="0" tIns="0" rIns="0" bIns="0" rtlCol="0" anchor="t">
            <a:spAutoFit/>
          </a:bodyPr>
          <a:lstStyle/>
          <a:p>
            <a:pPr algn="l">
              <a:lnSpc>
                <a:spcPts val="4174"/>
              </a:lnSpc>
            </a:pPr>
            <a:r>
              <a:rPr lang="en-US" sz="3478" b="1" spc="-139">
                <a:solidFill>
                  <a:srgbClr val="5EABF0"/>
                </a:solidFill>
                <a:latin typeface="Inter Semi-Bold"/>
                <a:ea typeface="Inter Semi-Bold"/>
                <a:cs typeface="Inter Semi-Bold"/>
                <a:sym typeface="Inter Semi-Bold"/>
              </a:rPr>
              <a:t>Integrated components working together to deliver intelligent consulting and evaluation</a:t>
            </a:r>
          </a:p>
        </p:txBody>
      </p:sp>
      <p:sp>
        <p:nvSpPr>
          <p:cNvPr id="6" name="Freeform 6"/>
          <p:cNvSpPr/>
          <p:nvPr/>
        </p:nvSpPr>
        <p:spPr>
          <a:xfrm>
            <a:off x="8706488" y="4493047"/>
            <a:ext cx="4582938" cy="2579949"/>
          </a:xfrm>
          <a:custGeom>
            <a:avLst/>
            <a:gdLst/>
            <a:ahLst/>
            <a:cxnLst/>
            <a:rect l="l" t="t" r="r" b="b"/>
            <a:pathLst>
              <a:path w="4582938" h="2579949">
                <a:moveTo>
                  <a:pt x="0" y="0"/>
                </a:moveTo>
                <a:lnTo>
                  <a:pt x="4582938" y="0"/>
                </a:lnTo>
                <a:lnTo>
                  <a:pt x="4582938" y="2579949"/>
                </a:lnTo>
                <a:lnTo>
                  <a:pt x="0" y="2579949"/>
                </a:lnTo>
                <a:lnTo>
                  <a:pt x="0" y="0"/>
                </a:lnTo>
                <a:close/>
              </a:path>
            </a:pathLst>
          </a:custGeom>
          <a:blipFill>
            <a:blip r:embed="rId4"/>
            <a:stretch>
              <a:fillRect/>
            </a:stretch>
          </a:blipFill>
        </p:spPr>
      </p:sp>
      <p:sp>
        <p:nvSpPr>
          <p:cNvPr id="7" name="TextBox 7"/>
          <p:cNvSpPr txBox="1"/>
          <p:nvPr/>
        </p:nvSpPr>
        <p:spPr>
          <a:xfrm>
            <a:off x="9263799" y="5142332"/>
            <a:ext cx="3368710" cy="1187549"/>
          </a:xfrm>
          <a:prstGeom prst="rect">
            <a:avLst/>
          </a:prstGeom>
        </p:spPr>
        <p:txBody>
          <a:bodyPr lIns="0" tIns="0" rIns="0" bIns="0" rtlCol="0" anchor="t">
            <a:spAutoFit/>
          </a:bodyPr>
          <a:lstStyle/>
          <a:p>
            <a:pPr algn="ctr">
              <a:lnSpc>
                <a:spcPts val="3230"/>
              </a:lnSpc>
            </a:pPr>
            <a:r>
              <a:rPr lang="en-US" sz="2691" b="1" spc="-107">
                <a:solidFill>
                  <a:srgbClr val="081F42"/>
                </a:solidFill>
                <a:latin typeface="Inter Semi-Bold"/>
                <a:ea typeface="Inter Semi-Bold"/>
                <a:cs typeface="Inter Semi-Bold"/>
                <a:sym typeface="Inter Semi-Bold"/>
              </a:rPr>
              <a:t>Backend API</a:t>
            </a:r>
          </a:p>
          <a:p>
            <a:pPr algn="ctr">
              <a:lnSpc>
                <a:spcPts val="3230"/>
              </a:lnSpc>
            </a:pPr>
            <a:r>
              <a:rPr lang="en-US" sz="2691" spc="-107">
                <a:solidFill>
                  <a:srgbClr val="081F42"/>
                </a:solidFill>
                <a:latin typeface="Inter"/>
                <a:ea typeface="Inter"/>
                <a:cs typeface="Inter"/>
                <a:sym typeface="Inter"/>
              </a:rPr>
              <a:t>handles business logic and data processing</a:t>
            </a:r>
          </a:p>
        </p:txBody>
      </p:sp>
      <p:sp>
        <p:nvSpPr>
          <p:cNvPr id="8" name="Freeform 8"/>
          <p:cNvSpPr/>
          <p:nvPr/>
        </p:nvSpPr>
        <p:spPr>
          <a:xfrm>
            <a:off x="7175196" y="5564382"/>
            <a:ext cx="1542230" cy="437279"/>
          </a:xfrm>
          <a:custGeom>
            <a:avLst/>
            <a:gdLst/>
            <a:ahLst/>
            <a:cxnLst/>
            <a:rect l="l" t="t" r="r" b="b"/>
            <a:pathLst>
              <a:path w="1542230" h="437279">
                <a:moveTo>
                  <a:pt x="0" y="0"/>
                </a:moveTo>
                <a:lnTo>
                  <a:pt x="1542230" y="0"/>
                </a:lnTo>
                <a:lnTo>
                  <a:pt x="1542230" y="437279"/>
                </a:lnTo>
                <a:lnTo>
                  <a:pt x="0" y="437279"/>
                </a:lnTo>
                <a:lnTo>
                  <a:pt x="0" y="0"/>
                </a:lnTo>
                <a:close/>
              </a:path>
            </a:pathLst>
          </a:custGeom>
          <a:blipFill>
            <a:blip r:embed="rId5"/>
            <a:stretch>
              <a:fillRect/>
            </a:stretch>
          </a:blipFill>
        </p:spPr>
      </p:sp>
      <p:sp>
        <p:nvSpPr>
          <p:cNvPr id="9" name="Freeform 9"/>
          <p:cNvSpPr/>
          <p:nvPr/>
        </p:nvSpPr>
        <p:spPr>
          <a:xfrm>
            <a:off x="3696976" y="4493047"/>
            <a:ext cx="3707914" cy="2579949"/>
          </a:xfrm>
          <a:custGeom>
            <a:avLst/>
            <a:gdLst/>
            <a:ahLst/>
            <a:cxnLst/>
            <a:rect l="l" t="t" r="r" b="b"/>
            <a:pathLst>
              <a:path w="3707914" h="2579949">
                <a:moveTo>
                  <a:pt x="0" y="0"/>
                </a:moveTo>
                <a:lnTo>
                  <a:pt x="3707914" y="0"/>
                </a:lnTo>
                <a:lnTo>
                  <a:pt x="3707914" y="2579949"/>
                </a:lnTo>
                <a:lnTo>
                  <a:pt x="0" y="2579949"/>
                </a:lnTo>
                <a:lnTo>
                  <a:pt x="0" y="0"/>
                </a:lnTo>
                <a:close/>
              </a:path>
            </a:pathLst>
          </a:custGeom>
          <a:blipFill>
            <a:blip r:embed="rId6"/>
            <a:stretch>
              <a:fillRect/>
            </a:stretch>
          </a:blipFill>
        </p:spPr>
      </p:sp>
      <p:sp>
        <p:nvSpPr>
          <p:cNvPr id="10" name="TextBox 10"/>
          <p:cNvSpPr txBox="1"/>
          <p:nvPr/>
        </p:nvSpPr>
        <p:spPr>
          <a:xfrm>
            <a:off x="3988926" y="4926466"/>
            <a:ext cx="3234442" cy="1651643"/>
          </a:xfrm>
          <a:prstGeom prst="rect">
            <a:avLst/>
          </a:prstGeom>
        </p:spPr>
        <p:txBody>
          <a:bodyPr lIns="0" tIns="0" rIns="0" bIns="0" rtlCol="0" anchor="t">
            <a:spAutoFit/>
          </a:bodyPr>
          <a:lstStyle/>
          <a:p>
            <a:pPr algn="ctr">
              <a:lnSpc>
                <a:spcPts val="3367"/>
              </a:lnSpc>
            </a:pPr>
            <a:r>
              <a:rPr lang="en-US" sz="2805" b="1" spc="-112">
                <a:solidFill>
                  <a:srgbClr val="F4F4F4"/>
                </a:solidFill>
                <a:latin typeface="Inter Semi-Bold"/>
                <a:ea typeface="Inter Semi-Bold"/>
                <a:cs typeface="Inter Semi-Bold"/>
                <a:sym typeface="Inter Semi-Bold"/>
              </a:rPr>
              <a:t>Database</a:t>
            </a:r>
          </a:p>
          <a:p>
            <a:pPr algn="ctr">
              <a:lnSpc>
                <a:spcPts val="3367"/>
              </a:lnSpc>
            </a:pPr>
            <a:r>
              <a:rPr lang="en-US" sz="2805" spc="-112">
                <a:solidFill>
                  <a:srgbClr val="F4F4F4"/>
                </a:solidFill>
                <a:latin typeface="Inter"/>
                <a:ea typeface="Inter"/>
                <a:cs typeface="Inter"/>
                <a:sym typeface="Inter"/>
              </a:rPr>
              <a:t>stores clients, projects, knowledge, and tasks data</a:t>
            </a:r>
          </a:p>
        </p:txBody>
      </p:sp>
      <p:sp>
        <p:nvSpPr>
          <p:cNvPr id="11" name="Freeform 11"/>
          <p:cNvSpPr/>
          <p:nvPr/>
        </p:nvSpPr>
        <p:spPr>
          <a:xfrm>
            <a:off x="10664354" y="3421712"/>
            <a:ext cx="667206" cy="1300906"/>
          </a:xfrm>
          <a:custGeom>
            <a:avLst/>
            <a:gdLst/>
            <a:ahLst/>
            <a:cxnLst/>
            <a:rect l="l" t="t" r="r" b="b"/>
            <a:pathLst>
              <a:path w="667206" h="1300906">
                <a:moveTo>
                  <a:pt x="0" y="0"/>
                </a:moveTo>
                <a:lnTo>
                  <a:pt x="667206" y="0"/>
                </a:lnTo>
                <a:lnTo>
                  <a:pt x="667206" y="1300906"/>
                </a:lnTo>
                <a:lnTo>
                  <a:pt x="0" y="1300906"/>
                </a:lnTo>
                <a:lnTo>
                  <a:pt x="0" y="0"/>
                </a:lnTo>
                <a:close/>
              </a:path>
            </a:pathLst>
          </a:custGeom>
          <a:blipFill>
            <a:blip r:embed="rId7"/>
            <a:stretch>
              <a:fillRect/>
            </a:stretch>
          </a:blipFill>
        </p:spPr>
      </p:sp>
      <p:sp>
        <p:nvSpPr>
          <p:cNvPr id="12" name="Freeform 12"/>
          <p:cNvSpPr/>
          <p:nvPr/>
        </p:nvSpPr>
        <p:spPr>
          <a:xfrm>
            <a:off x="8925244" y="1497682"/>
            <a:ext cx="4145426" cy="2153601"/>
          </a:xfrm>
          <a:custGeom>
            <a:avLst/>
            <a:gdLst/>
            <a:ahLst/>
            <a:cxnLst/>
            <a:rect l="l" t="t" r="r" b="b"/>
            <a:pathLst>
              <a:path w="4145426" h="2153601">
                <a:moveTo>
                  <a:pt x="0" y="0"/>
                </a:moveTo>
                <a:lnTo>
                  <a:pt x="4145426" y="0"/>
                </a:lnTo>
                <a:lnTo>
                  <a:pt x="4145426" y="2153602"/>
                </a:lnTo>
                <a:lnTo>
                  <a:pt x="0" y="2153602"/>
                </a:lnTo>
                <a:lnTo>
                  <a:pt x="0" y="0"/>
                </a:lnTo>
                <a:close/>
              </a:path>
            </a:pathLst>
          </a:custGeom>
          <a:blipFill>
            <a:blip r:embed="rId8"/>
            <a:stretch>
              <a:fillRect/>
            </a:stretch>
          </a:blipFill>
        </p:spPr>
      </p:sp>
      <p:sp>
        <p:nvSpPr>
          <p:cNvPr id="13" name="TextBox 13"/>
          <p:cNvSpPr txBox="1"/>
          <p:nvPr/>
        </p:nvSpPr>
        <p:spPr>
          <a:xfrm>
            <a:off x="9386376" y="1920434"/>
            <a:ext cx="3281077" cy="1205399"/>
          </a:xfrm>
          <a:prstGeom prst="rect">
            <a:avLst/>
          </a:prstGeom>
        </p:spPr>
        <p:txBody>
          <a:bodyPr lIns="0" tIns="0" rIns="0" bIns="0" rtlCol="0" anchor="t">
            <a:spAutoFit/>
          </a:bodyPr>
          <a:lstStyle/>
          <a:p>
            <a:pPr algn="ctr">
              <a:lnSpc>
                <a:spcPts val="3206"/>
              </a:lnSpc>
            </a:pPr>
            <a:r>
              <a:rPr lang="en-US" sz="2671" b="1" spc="-106">
                <a:solidFill>
                  <a:srgbClr val="F4F4F4"/>
                </a:solidFill>
                <a:latin typeface="Inter Semi-Bold"/>
                <a:ea typeface="Inter Semi-Bold"/>
                <a:cs typeface="Inter Semi-Bold"/>
                <a:sym typeface="Inter Semi-Bold"/>
              </a:rPr>
              <a:t>Frontend</a:t>
            </a:r>
          </a:p>
          <a:p>
            <a:pPr algn="ctr">
              <a:lnSpc>
                <a:spcPts val="3206"/>
              </a:lnSpc>
            </a:pPr>
            <a:r>
              <a:rPr lang="en-US" sz="2671" spc="-106">
                <a:solidFill>
                  <a:srgbClr val="F4F4F4"/>
                </a:solidFill>
                <a:latin typeface="Inter"/>
                <a:ea typeface="Inter"/>
                <a:cs typeface="Inter"/>
                <a:sym typeface="Inter"/>
              </a:rPr>
              <a:t>user interface for</a:t>
            </a:r>
          </a:p>
          <a:p>
            <a:pPr algn="ctr">
              <a:lnSpc>
                <a:spcPts val="3206"/>
              </a:lnSpc>
            </a:pPr>
            <a:r>
              <a:rPr lang="en-US" sz="2671" spc="-106">
                <a:solidFill>
                  <a:srgbClr val="F4F4F4"/>
                </a:solidFill>
                <a:latin typeface="Inter"/>
                <a:ea typeface="Inter"/>
                <a:cs typeface="Inter"/>
                <a:sym typeface="Inter"/>
              </a:rPr>
              <a:t>faculty and evaluators</a:t>
            </a:r>
          </a:p>
        </p:txBody>
      </p:sp>
      <p:sp>
        <p:nvSpPr>
          <p:cNvPr id="14" name="Freeform 14"/>
          <p:cNvSpPr/>
          <p:nvPr/>
        </p:nvSpPr>
        <p:spPr>
          <a:xfrm>
            <a:off x="13059732" y="5564382"/>
            <a:ext cx="1312536" cy="437279"/>
          </a:xfrm>
          <a:custGeom>
            <a:avLst/>
            <a:gdLst/>
            <a:ahLst/>
            <a:cxnLst/>
            <a:rect l="l" t="t" r="r" b="b"/>
            <a:pathLst>
              <a:path w="1312536" h="437279">
                <a:moveTo>
                  <a:pt x="0" y="0"/>
                </a:moveTo>
                <a:lnTo>
                  <a:pt x="1312536" y="0"/>
                </a:lnTo>
                <a:lnTo>
                  <a:pt x="1312536" y="437279"/>
                </a:lnTo>
                <a:lnTo>
                  <a:pt x="0" y="437279"/>
                </a:lnTo>
                <a:lnTo>
                  <a:pt x="0" y="0"/>
                </a:lnTo>
                <a:close/>
              </a:path>
            </a:pathLst>
          </a:custGeom>
          <a:blipFill>
            <a:blip r:embed="rId9"/>
            <a:stretch>
              <a:fillRect/>
            </a:stretch>
          </a:blipFill>
        </p:spPr>
      </p:sp>
      <p:sp>
        <p:nvSpPr>
          <p:cNvPr id="15" name="Freeform 15"/>
          <p:cNvSpPr/>
          <p:nvPr/>
        </p:nvSpPr>
        <p:spPr>
          <a:xfrm>
            <a:off x="14142574" y="4493047"/>
            <a:ext cx="3718852" cy="2579949"/>
          </a:xfrm>
          <a:custGeom>
            <a:avLst/>
            <a:gdLst/>
            <a:ahLst/>
            <a:cxnLst/>
            <a:rect l="l" t="t" r="r" b="b"/>
            <a:pathLst>
              <a:path w="3718852" h="2579949">
                <a:moveTo>
                  <a:pt x="0" y="0"/>
                </a:moveTo>
                <a:lnTo>
                  <a:pt x="3718852" y="0"/>
                </a:lnTo>
                <a:lnTo>
                  <a:pt x="3718852" y="2579949"/>
                </a:lnTo>
                <a:lnTo>
                  <a:pt x="0" y="2579949"/>
                </a:lnTo>
                <a:lnTo>
                  <a:pt x="0" y="0"/>
                </a:lnTo>
                <a:close/>
              </a:path>
            </a:pathLst>
          </a:custGeom>
          <a:blipFill>
            <a:blip r:embed="rId10"/>
            <a:stretch>
              <a:fillRect/>
            </a:stretch>
          </a:blipFill>
        </p:spPr>
      </p:sp>
      <p:sp>
        <p:nvSpPr>
          <p:cNvPr id="16" name="TextBox 16"/>
          <p:cNvSpPr txBox="1"/>
          <p:nvPr/>
        </p:nvSpPr>
        <p:spPr>
          <a:xfrm>
            <a:off x="14216920" y="4971690"/>
            <a:ext cx="3535156" cy="1570724"/>
          </a:xfrm>
          <a:prstGeom prst="rect">
            <a:avLst/>
          </a:prstGeom>
        </p:spPr>
        <p:txBody>
          <a:bodyPr lIns="0" tIns="0" rIns="0" bIns="0" rtlCol="0" anchor="t">
            <a:spAutoFit/>
          </a:bodyPr>
          <a:lstStyle/>
          <a:p>
            <a:pPr algn="ctr">
              <a:lnSpc>
                <a:spcPts val="3122"/>
              </a:lnSpc>
            </a:pPr>
            <a:r>
              <a:rPr lang="en-US" sz="2601" b="1" spc="-104">
                <a:solidFill>
                  <a:srgbClr val="F4F4F4"/>
                </a:solidFill>
                <a:latin typeface="Inter Semi-Bold"/>
                <a:ea typeface="Inter Semi-Bold"/>
                <a:cs typeface="Inter Semi-Bold"/>
                <a:sym typeface="Inter Semi-Bold"/>
              </a:rPr>
              <a:t>Knowledge</a:t>
            </a:r>
          </a:p>
          <a:p>
            <a:pPr algn="ctr">
              <a:lnSpc>
                <a:spcPts val="3122"/>
              </a:lnSpc>
            </a:pPr>
            <a:r>
              <a:rPr lang="en-US" sz="2601" b="1" spc="-104">
                <a:solidFill>
                  <a:srgbClr val="F4F4F4"/>
                </a:solidFill>
                <a:latin typeface="Inter Semi-Bold"/>
                <a:ea typeface="Inter Semi-Bold"/>
                <a:cs typeface="Inter Semi-Bold"/>
                <a:sym typeface="Inter Semi-Bold"/>
              </a:rPr>
              <a:t>Repository</a:t>
            </a:r>
          </a:p>
          <a:p>
            <a:pPr algn="ctr">
              <a:lnSpc>
                <a:spcPts val="3122"/>
              </a:lnSpc>
            </a:pPr>
            <a:r>
              <a:rPr lang="en-US" sz="2601" spc="-104">
                <a:solidFill>
                  <a:srgbClr val="F4F4F4"/>
                </a:solidFill>
                <a:latin typeface="Inter"/>
                <a:ea typeface="Inter"/>
                <a:cs typeface="Inter"/>
                <a:sym typeface="Inter"/>
              </a:rPr>
              <a:t>document management and search</a:t>
            </a:r>
          </a:p>
        </p:txBody>
      </p:sp>
      <p:sp>
        <p:nvSpPr>
          <p:cNvPr id="17" name="Freeform 17"/>
          <p:cNvSpPr/>
          <p:nvPr/>
        </p:nvSpPr>
        <p:spPr>
          <a:xfrm>
            <a:off x="10664354" y="6854356"/>
            <a:ext cx="667206" cy="1082267"/>
          </a:xfrm>
          <a:custGeom>
            <a:avLst/>
            <a:gdLst/>
            <a:ahLst/>
            <a:cxnLst/>
            <a:rect l="l" t="t" r="r" b="b"/>
            <a:pathLst>
              <a:path w="667206" h="1082267">
                <a:moveTo>
                  <a:pt x="0" y="0"/>
                </a:moveTo>
                <a:lnTo>
                  <a:pt x="667206" y="0"/>
                </a:lnTo>
                <a:lnTo>
                  <a:pt x="667206" y="1082267"/>
                </a:lnTo>
                <a:lnTo>
                  <a:pt x="0" y="1082267"/>
                </a:lnTo>
                <a:lnTo>
                  <a:pt x="0" y="0"/>
                </a:lnTo>
                <a:close/>
              </a:path>
            </a:pathLst>
          </a:custGeom>
          <a:blipFill>
            <a:blip r:embed="rId11"/>
            <a:stretch>
              <a:fillRect/>
            </a:stretch>
          </a:blipFill>
        </p:spPr>
      </p:sp>
      <p:sp>
        <p:nvSpPr>
          <p:cNvPr id="18" name="Freeform 18"/>
          <p:cNvSpPr/>
          <p:nvPr/>
        </p:nvSpPr>
        <p:spPr>
          <a:xfrm>
            <a:off x="8925244" y="7707051"/>
            <a:ext cx="4145426" cy="2153601"/>
          </a:xfrm>
          <a:custGeom>
            <a:avLst/>
            <a:gdLst/>
            <a:ahLst/>
            <a:cxnLst/>
            <a:rect l="l" t="t" r="r" b="b"/>
            <a:pathLst>
              <a:path w="4145426" h="2153601">
                <a:moveTo>
                  <a:pt x="0" y="0"/>
                </a:moveTo>
                <a:lnTo>
                  <a:pt x="4145426" y="0"/>
                </a:lnTo>
                <a:lnTo>
                  <a:pt x="4145426" y="2153601"/>
                </a:lnTo>
                <a:lnTo>
                  <a:pt x="0" y="2153601"/>
                </a:lnTo>
                <a:lnTo>
                  <a:pt x="0" y="0"/>
                </a:lnTo>
                <a:close/>
              </a:path>
            </a:pathLst>
          </a:custGeom>
          <a:blipFill>
            <a:blip r:embed="rId12"/>
            <a:stretch>
              <a:fillRect/>
            </a:stretch>
          </a:blipFill>
        </p:spPr>
      </p:sp>
      <p:sp>
        <p:nvSpPr>
          <p:cNvPr id="19" name="TextBox 19"/>
          <p:cNvSpPr txBox="1"/>
          <p:nvPr/>
        </p:nvSpPr>
        <p:spPr>
          <a:xfrm>
            <a:off x="9456033" y="8141121"/>
            <a:ext cx="3141762" cy="1294644"/>
          </a:xfrm>
          <a:prstGeom prst="rect">
            <a:avLst/>
          </a:prstGeom>
        </p:spPr>
        <p:txBody>
          <a:bodyPr lIns="0" tIns="0" rIns="0" bIns="0" rtlCol="0" anchor="t">
            <a:spAutoFit/>
          </a:bodyPr>
          <a:lstStyle/>
          <a:p>
            <a:pPr algn="ctr">
              <a:lnSpc>
                <a:spcPts val="3459"/>
              </a:lnSpc>
            </a:pPr>
            <a:r>
              <a:rPr lang="en-US" sz="2882" b="1" spc="-115">
                <a:solidFill>
                  <a:srgbClr val="F4F4F4"/>
                </a:solidFill>
                <a:latin typeface="Inter Semi-Bold"/>
                <a:ea typeface="Inter Semi-Bold"/>
                <a:cs typeface="Inter Semi-Bold"/>
                <a:sym typeface="Inter Semi-Bold"/>
              </a:rPr>
              <a:t>Analytics Engine</a:t>
            </a:r>
          </a:p>
          <a:p>
            <a:pPr algn="ctr">
              <a:lnSpc>
                <a:spcPts val="3459"/>
              </a:lnSpc>
            </a:pPr>
            <a:r>
              <a:rPr lang="en-US" sz="2882" spc="-115">
                <a:solidFill>
                  <a:srgbClr val="F4F4F4"/>
                </a:solidFill>
                <a:latin typeface="Inter"/>
                <a:ea typeface="Inter"/>
                <a:cs typeface="Inter"/>
                <a:sym typeface="Inter"/>
              </a:rPr>
              <a:t>data analysis and</a:t>
            </a:r>
          </a:p>
          <a:p>
            <a:pPr algn="ctr">
              <a:lnSpc>
                <a:spcPts val="3459"/>
              </a:lnSpc>
            </a:pPr>
            <a:r>
              <a:rPr lang="en-US" sz="2882" spc="-115">
                <a:solidFill>
                  <a:srgbClr val="F4F4F4"/>
                </a:solidFill>
                <a:latin typeface="Inter"/>
                <a:ea typeface="Inter"/>
                <a:cs typeface="Inter"/>
                <a:sym typeface="Inter"/>
              </a:rPr>
              <a:t>decision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37490" y="1289186"/>
            <a:ext cx="7865845" cy="1069509"/>
          </a:xfrm>
          <a:prstGeom prst="rect">
            <a:avLst/>
          </a:prstGeom>
        </p:spPr>
        <p:txBody>
          <a:bodyPr lIns="0" tIns="0" rIns="0" bIns="0" rtlCol="0" anchor="t">
            <a:spAutoFit/>
          </a:bodyPr>
          <a:lstStyle/>
          <a:p>
            <a:pPr algn="l">
              <a:lnSpc>
                <a:spcPts val="8006"/>
              </a:lnSpc>
            </a:pPr>
            <a:r>
              <a:rPr lang="en-US" sz="8006" b="1" spc="-320">
                <a:solidFill>
                  <a:srgbClr val="F6F6F6"/>
                </a:solidFill>
                <a:latin typeface="Inter Bold"/>
                <a:ea typeface="Inter Bold"/>
                <a:cs typeface="Inter Bold"/>
                <a:sym typeface="Inter Bold"/>
              </a:rPr>
              <a:t>Database Design</a:t>
            </a:r>
          </a:p>
        </p:txBody>
      </p:sp>
      <p:sp>
        <p:nvSpPr>
          <p:cNvPr id="4" name="TextBox 4"/>
          <p:cNvSpPr txBox="1"/>
          <p:nvPr/>
        </p:nvSpPr>
        <p:spPr>
          <a:xfrm>
            <a:off x="571803" y="2553550"/>
            <a:ext cx="4434525" cy="1116124"/>
          </a:xfrm>
          <a:prstGeom prst="rect">
            <a:avLst/>
          </a:prstGeom>
        </p:spPr>
        <p:txBody>
          <a:bodyPr lIns="0" tIns="0" rIns="0" bIns="0" rtlCol="0" anchor="t">
            <a:spAutoFit/>
          </a:bodyPr>
          <a:lstStyle/>
          <a:p>
            <a:pPr algn="l">
              <a:lnSpc>
                <a:spcPts val="4456"/>
              </a:lnSpc>
            </a:pPr>
            <a:r>
              <a:rPr lang="en-US" sz="3713" b="1" spc="-110">
                <a:solidFill>
                  <a:srgbClr val="5DACEC"/>
                </a:solidFill>
                <a:latin typeface="Inter Bold"/>
                <a:ea typeface="Inter Bold"/>
                <a:cs typeface="Inter Bold"/>
                <a:sym typeface="Inter Bold"/>
              </a:rPr>
              <a:t>Core entities and how they connect</a:t>
            </a:r>
          </a:p>
        </p:txBody>
      </p:sp>
      <p:sp>
        <p:nvSpPr>
          <p:cNvPr id="5" name="Freeform 5"/>
          <p:cNvSpPr/>
          <p:nvPr/>
        </p:nvSpPr>
        <p:spPr>
          <a:xfrm>
            <a:off x="426574" y="4066699"/>
            <a:ext cx="1323474" cy="229572"/>
          </a:xfrm>
          <a:custGeom>
            <a:avLst/>
            <a:gdLst/>
            <a:ahLst/>
            <a:cxnLst/>
            <a:rect l="l" t="t" r="r" b="b"/>
            <a:pathLst>
              <a:path w="1323474" h="229572">
                <a:moveTo>
                  <a:pt x="0" y="0"/>
                </a:moveTo>
                <a:lnTo>
                  <a:pt x="1323474" y="0"/>
                </a:lnTo>
                <a:lnTo>
                  <a:pt x="1323474" y="229572"/>
                </a:lnTo>
                <a:lnTo>
                  <a:pt x="0" y="229572"/>
                </a:lnTo>
                <a:lnTo>
                  <a:pt x="0" y="0"/>
                </a:lnTo>
                <a:close/>
              </a:path>
            </a:pathLst>
          </a:custGeom>
          <a:blipFill>
            <a:blip r:embed="rId3"/>
            <a:stretch>
              <a:fillRect/>
            </a:stretch>
          </a:blipFill>
        </p:spPr>
      </p:sp>
      <p:sp>
        <p:nvSpPr>
          <p:cNvPr id="6" name="TextBox 6"/>
          <p:cNvSpPr txBox="1"/>
          <p:nvPr/>
        </p:nvSpPr>
        <p:spPr>
          <a:xfrm>
            <a:off x="571761" y="4759633"/>
            <a:ext cx="4438776" cy="427699"/>
          </a:xfrm>
          <a:prstGeom prst="rect">
            <a:avLst/>
          </a:prstGeom>
        </p:spPr>
        <p:txBody>
          <a:bodyPr lIns="0" tIns="0" rIns="0" bIns="0" rtlCol="0" anchor="t">
            <a:spAutoFit/>
          </a:bodyPr>
          <a:lstStyle/>
          <a:p>
            <a:pPr algn="l">
              <a:lnSpc>
                <a:spcPts val="3643"/>
              </a:lnSpc>
            </a:pPr>
            <a:r>
              <a:rPr lang="en-US" sz="2601" b="1">
                <a:solidFill>
                  <a:srgbClr val="5DACEC"/>
                </a:solidFill>
                <a:latin typeface="Inter Bold"/>
                <a:ea typeface="Inter Bold"/>
                <a:cs typeface="Inter Bold"/>
                <a:sym typeface="Inter Bold"/>
              </a:rPr>
              <a:t>Clients </a:t>
            </a:r>
            <a:r>
              <a:rPr lang="en-US" sz="2601">
                <a:solidFill>
                  <a:srgbClr val="FFFFFF"/>
                </a:solidFill>
                <a:latin typeface="Inter"/>
                <a:ea typeface="Inter"/>
                <a:cs typeface="Inter"/>
                <a:sym typeface="Inter"/>
              </a:rPr>
              <a:t>have many </a:t>
            </a:r>
            <a:r>
              <a:rPr lang="en-US" sz="2601" b="1">
                <a:solidFill>
                  <a:srgbClr val="5DACEC"/>
                </a:solidFill>
                <a:latin typeface="Inter Bold"/>
                <a:ea typeface="Inter Bold"/>
                <a:cs typeface="Inter Bold"/>
                <a:sym typeface="Inter Bold"/>
              </a:rPr>
              <a:t>Projects</a:t>
            </a:r>
          </a:p>
        </p:txBody>
      </p:sp>
      <p:sp>
        <p:nvSpPr>
          <p:cNvPr id="7" name="TextBox 7"/>
          <p:cNvSpPr txBox="1"/>
          <p:nvPr/>
        </p:nvSpPr>
        <p:spPr>
          <a:xfrm>
            <a:off x="565264" y="5563624"/>
            <a:ext cx="5088400" cy="438565"/>
          </a:xfrm>
          <a:prstGeom prst="rect">
            <a:avLst/>
          </a:prstGeom>
        </p:spPr>
        <p:txBody>
          <a:bodyPr lIns="0" tIns="0" rIns="0" bIns="0" rtlCol="0" anchor="t">
            <a:spAutoFit/>
          </a:bodyPr>
          <a:lstStyle/>
          <a:p>
            <a:pPr algn="l">
              <a:lnSpc>
                <a:spcPts val="3569"/>
              </a:lnSpc>
            </a:pPr>
            <a:r>
              <a:rPr lang="en-US" sz="2548" b="1">
                <a:solidFill>
                  <a:srgbClr val="5DACEC"/>
                </a:solidFill>
                <a:latin typeface="Inter Bold"/>
                <a:ea typeface="Inter Bold"/>
                <a:cs typeface="Inter Bold"/>
                <a:sym typeface="Inter Bold"/>
              </a:rPr>
              <a:t>Projects </a:t>
            </a:r>
            <a:r>
              <a:rPr lang="en-US" sz="2548">
                <a:solidFill>
                  <a:srgbClr val="FFFFFF"/>
                </a:solidFill>
                <a:latin typeface="Inter"/>
                <a:ea typeface="Inter"/>
                <a:cs typeface="Inter"/>
                <a:sym typeface="Inter"/>
              </a:rPr>
              <a:t>assigned to </a:t>
            </a:r>
            <a:r>
              <a:rPr lang="en-US" sz="2548" b="1">
                <a:solidFill>
                  <a:srgbClr val="5DACEC"/>
                </a:solidFill>
                <a:latin typeface="Inter Bold"/>
                <a:ea typeface="Inter Bold"/>
                <a:cs typeface="Inter Bold"/>
                <a:sym typeface="Inter Bold"/>
              </a:rPr>
              <a:t>Employees</a:t>
            </a:r>
          </a:p>
        </p:txBody>
      </p:sp>
      <p:sp>
        <p:nvSpPr>
          <p:cNvPr id="8" name="TextBox 8"/>
          <p:cNvSpPr txBox="1"/>
          <p:nvPr/>
        </p:nvSpPr>
        <p:spPr>
          <a:xfrm>
            <a:off x="567967" y="6392410"/>
            <a:ext cx="4818190" cy="917829"/>
          </a:xfrm>
          <a:prstGeom prst="rect">
            <a:avLst/>
          </a:prstGeom>
        </p:spPr>
        <p:txBody>
          <a:bodyPr lIns="0" tIns="0" rIns="0" bIns="0" rtlCol="0" anchor="t">
            <a:spAutoFit/>
          </a:bodyPr>
          <a:lstStyle/>
          <a:p>
            <a:pPr algn="l">
              <a:lnSpc>
                <a:spcPts val="3717"/>
              </a:lnSpc>
            </a:pPr>
            <a:r>
              <a:rPr lang="en-US" sz="2654" b="1">
                <a:solidFill>
                  <a:srgbClr val="5DACEC"/>
                </a:solidFill>
                <a:latin typeface="Inter Bold"/>
                <a:ea typeface="Inter Bold"/>
                <a:cs typeface="Inter Bold"/>
                <a:sym typeface="Inter Bold"/>
              </a:rPr>
              <a:t>Knowledge Documents </a:t>
            </a:r>
            <a:r>
              <a:rPr lang="en-US" sz="2654">
                <a:solidFill>
                  <a:srgbClr val="FFFFFF"/>
                </a:solidFill>
                <a:latin typeface="Inter"/>
                <a:ea typeface="Inter"/>
                <a:cs typeface="Inter"/>
                <a:sym typeface="Inter"/>
              </a:rPr>
              <a:t>linked to </a:t>
            </a:r>
            <a:r>
              <a:rPr lang="en-US" sz="2654" b="1">
                <a:solidFill>
                  <a:srgbClr val="5DACEC"/>
                </a:solidFill>
                <a:latin typeface="Inter Bold"/>
                <a:ea typeface="Inter Bold"/>
                <a:cs typeface="Inter Bold"/>
                <a:sym typeface="Inter Bold"/>
              </a:rPr>
              <a:t>Projects </a:t>
            </a:r>
            <a:r>
              <a:rPr lang="en-US" sz="2654">
                <a:solidFill>
                  <a:srgbClr val="5DACEC"/>
                </a:solidFill>
                <a:latin typeface="Inter"/>
                <a:ea typeface="Inter"/>
                <a:cs typeface="Inter"/>
                <a:sym typeface="Inter"/>
              </a:rPr>
              <a:t>and </a:t>
            </a:r>
            <a:r>
              <a:rPr lang="en-US" sz="2654" b="1">
                <a:solidFill>
                  <a:srgbClr val="5DACEC"/>
                </a:solidFill>
                <a:latin typeface="Inter Bold"/>
                <a:ea typeface="Inter Bold"/>
                <a:cs typeface="Inter Bold"/>
                <a:sym typeface="Inter Bold"/>
              </a:rPr>
              <a:t>Clients</a:t>
            </a:r>
          </a:p>
        </p:txBody>
      </p:sp>
      <p:sp>
        <p:nvSpPr>
          <p:cNvPr id="9" name="TextBox 9"/>
          <p:cNvSpPr txBox="1"/>
          <p:nvPr/>
        </p:nvSpPr>
        <p:spPr>
          <a:xfrm>
            <a:off x="574504" y="7732825"/>
            <a:ext cx="4164487" cy="917829"/>
          </a:xfrm>
          <a:prstGeom prst="rect">
            <a:avLst/>
          </a:prstGeom>
        </p:spPr>
        <p:txBody>
          <a:bodyPr lIns="0" tIns="0" rIns="0" bIns="0" rtlCol="0" anchor="t">
            <a:spAutoFit/>
          </a:bodyPr>
          <a:lstStyle/>
          <a:p>
            <a:pPr algn="l">
              <a:lnSpc>
                <a:spcPts val="3717"/>
              </a:lnSpc>
            </a:pPr>
            <a:r>
              <a:rPr lang="en-US" sz="2654" b="1">
                <a:solidFill>
                  <a:srgbClr val="5DACEC"/>
                </a:solidFill>
                <a:latin typeface="Inter Bold"/>
                <a:ea typeface="Inter Bold"/>
                <a:cs typeface="Inter Bold"/>
                <a:sym typeface="Inter Bold"/>
              </a:rPr>
              <a:t>Tasks </a:t>
            </a:r>
            <a:r>
              <a:rPr lang="en-US" sz="2654">
                <a:solidFill>
                  <a:srgbClr val="FFFFFF"/>
                </a:solidFill>
                <a:latin typeface="Inter"/>
                <a:ea typeface="Inter"/>
                <a:cs typeface="Inter"/>
                <a:sym typeface="Inter"/>
              </a:rPr>
              <a:t>related to </a:t>
            </a:r>
            <a:r>
              <a:rPr lang="en-US" sz="2654" b="1">
                <a:solidFill>
                  <a:srgbClr val="5DACEC"/>
                </a:solidFill>
                <a:latin typeface="Inter Bold"/>
                <a:ea typeface="Inter Bold"/>
                <a:cs typeface="Inter Bold"/>
                <a:sym typeface="Inter Bold"/>
              </a:rPr>
              <a:t>Projects </a:t>
            </a:r>
          </a:p>
          <a:p>
            <a:pPr algn="l">
              <a:lnSpc>
                <a:spcPts val="3717"/>
              </a:lnSpc>
            </a:pPr>
            <a:r>
              <a:rPr lang="en-US" sz="2654">
                <a:solidFill>
                  <a:srgbClr val="FFFFFF"/>
                </a:solidFill>
                <a:latin typeface="Inter"/>
                <a:ea typeface="Inter"/>
                <a:cs typeface="Inter"/>
                <a:sym typeface="Inter"/>
              </a:rPr>
              <a:t>and </a:t>
            </a:r>
            <a:r>
              <a:rPr lang="en-US" sz="2654" b="1">
                <a:solidFill>
                  <a:srgbClr val="5DACEC"/>
                </a:solidFill>
                <a:latin typeface="Inter Bold"/>
                <a:ea typeface="Inter Bold"/>
                <a:cs typeface="Inter Bold"/>
                <a:sym typeface="Inter Bold"/>
              </a:rPr>
              <a:t>Employees</a:t>
            </a:r>
          </a:p>
        </p:txBody>
      </p:sp>
      <p:sp>
        <p:nvSpPr>
          <p:cNvPr id="10" name="Freeform 10"/>
          <p:cNvSpPr/>
          <p:nvPr/>
        </p:nvSpPr>
        <p:spPr>
          <a:xfrm>
            <a:off x="9789330" y="1705390"/>
            <a:ext cx="2843828" cy="1519546"/>
          </a:xfrm>
          <a:custGeom>
            <a:avLst/>
            <a:gdLst/>
            <a:ahLst/>
            <a:cxnLst/>
            <a:rect l="l" t="t" r="r" b="b"/>
            <a:pathLst>
              <a:path w="2843828" h="1519546">
                <a:moveTo>
                  <a:pt x="0" y="0"/>
                </a:moveTo>
                <a:lnTo>
                  <a:pt x="2843828" y="0"/>
                </a:lnTo>
                <a:lnTo>
                  <a:pt x="2843828" y="1519546"/>
                </a:lnTo>
                <a:lnTo>
                  <a:pt x="0" y="1519546"/>
                </a:lnTo>
                <a:lnTo>
                  <a:pt x="0" y="0"/>
                </a:lnTo>
                <a:close/>
              </a:path>
            </a:pathLst>
          </a:custGeom>
          <a:blipFill>
            <a:blip r:embed="rId4"/>
            <a:stretch>
              <a:fillRect/>
            </a:stretch>
          </a:blipFill>
        </p:spPr>
      </p:sp>
      <p:sp>
        <p:nvSpPr>
          <p:cNvPr id="11" name="TextBox 11"/>
          <p:cNvSpPr txBox="1"/>
          <p:nvPr/>
        </p:nvSpPr>
        <p:spPr>
          <a:xfrm>
            <a:off x="10496193" y="2331025"/>
            <a:ext cx="1402198" cy="392630"/>
          </a:xfrm>
          <a:prstGeom prst="rect">
            <a:avLst/>
          </a:prstGeom>
        </p:spPr>
        <p:txBody>
          <a:bodyPr lIns="0" tIns="0" rIns="0" bIns="0" rtlCol="0" anchor="t">
            <a:spAutoFit/>
          </a:bodyPr>
          <a:lstStyle/>
          <a:p>
            <a:pPr algn="ctr">
              <a:lnSpc>
                <a:spcPts val="3185"/>
              </a:lnSpc>
            </a:pPr>
            <a:r>
              <a:rPr lang="en-US" sz="2654" b="1" spc="-53">
                <a:solidFill>
                  <a:srgbClr val="F6F6F6"/>
                </a:solidFill>
                <a:latin typeface="Inter Bold"/>
                <a:ea typeface="Inter Bold"/>
                <a:cs typeface="Inter Bold"/>
                <a:sym typeface="Inter Bold"/>
              </a:rPr>
              <a:t>CLIENTS</a:t>
            </a:r>
          </a:p>
        </p:txBody>
      </p:sp>
      <p:sp>
        <p:nvSpPr>
          <p:cNvPr id="12" name="Freeform 12"/>
          <p:cNvSpPr/>
          <p:nvPr/>
        </p:nvSpPr>
        <p:spPr>
          <a:xfrm>
            <a:off x="11101866" y="3214004"/>
            <a:ext cx="437512" cy="1082267"/>
          </a:xfrm>
          <a:custGeom>
            <a:avLst/>
            <a:gdLst/>
            <a:ahLst/>
            <a:cxnLst/>
            <a:rect l="l" t="t" r="r" b="b"/>
            <a:pathLst>
              <a:path w="437512" h="1082267">
                <a:moveTo>
                  <a:pt x="0" y="0"/>
                </a:moveTo>
                <a:lnTo>
                  <a:pt x="437512" y="0"/>
                </a:lnTo>
                <a:lnTo>
                  <a:pt x="437512" y="1082267"/>
                </a:lnTo>
                <a:lnTo>
                  <a:pt x="0" y="1082267"/>
                </a:lnTo>
                <a:lnTo>
                  <a:pt x="0" y="0"/>
                </a:lnTo>
                <a:close/>
              </a:path>
            </a:pathLst>
          </a:custGeom>
          <a:blipFill>
            <a:blip r:embed="rId5"/>
            <a:stretch>
              <a:fillRect/>
            </a:stretch>
          </a:blipFill>
        </p:spPr>
      </p:sp>
      <p:sp>
        <p:nvSpPr>
          <p:cNvPr id="13" name="Freeform 13"/>
          <p:cNvSpPr/>
          <p:nvPr/>
        </p:nvSpPr>
        <p:spPr>
          <a:xfrm>
            <a:off x="9789330" y="4066699"/>
            <a:ext cx="2843828" cy="1727254"/>
          </a:xfrm>
          <a:custGeom>
            <a:avLst/>
            <a:gdLst/>
            <a:ahLst/>
            <a:cxnLst/>
            <a:rect l="l" t="t" r="r" b="b"/>
            <a:pathLst>
              <a:path w="2843828" h="1727254">
                <a:moveTo>
                  <a:pt x="0" y="0"/>
                </a:moveTo>
                <a:lnTo>
                  <a:pt x="2843828" y="0"/>
                </a:lnTo>
                <a:lnTo>
                  <a:pt x="2843828" y="1727254"/>
                </a:lnTo>
                <a:lnTo>
                  <a:pt x="0" y="1727254"/>
                </a:lnTo>
                <a:lnTo>
                  <a:pt x="0" y="0"/>
                </a:lnTo>
                <a:close/>
              </a:path>
            </a:pathLst>
          </a:custGeom>
          <a:blipFill>
            <a:blip r:embed="rId6"/>
            <a:stretch>
              <a:fillRect/>
            </a:stretch>
          </a:blipFill>
        </p:spPr>
      </p:sp>
      <p:sp>
        <p:nvSpPr>
          <p:cNvPr id="14" name="TextBox 14"/>
          <p:cNvSpPr txBox="1"/>
          <p:nvPr/>
        </p:nvSpPr>
        <p:spPr>
          <a:xfrm>
            <a:off x="10318939" y="4725699"/>
            <a:ext cx="1756707" cy="392630"/>
          </a:xfrm>
          <a:prstGeom prst="rect">
            <a:avLst/>
          </a:prstGeom>
        </p:spPr>
        <p:txBody>
          <a:bodyPr lIns="0" tIns="0" rIns="0" bIns="0" rtlCol="0" anchor="t">
            <a:spAutoFit/>
          </a:bodyPr>
          <a:lstStyle/>
          <a:p>
            <a:pPr algn="ctr">
              <a:lnSpc>
                <a:spcPts val="3185"/>
              </a:lnSpc>
            </a:pPr>
            <a:r>
              <a:rPr lang="en-US" sz="2654" b="1" spc="-53">
                <a:solidFill>
                  <a:srgbClr val="F6F6F6"/>
                </a:solidFill>
                <a:latin typeface="Inter Bold"/>
                <a:ea typeface="Inter Bold"/>
                <a:cs typeface="Inter Bold"/>
                <a:sym typeface="Inter Bold"/>
              </a:rPr>
              <a:t>PROJECTS</a:t>
            </a:r>
          </a:p>
        </p:txBody>
      </p:sp>
      <p:sp>
        <p:nvSpPr>
          <p:cNvPr id="15" name="Freeform 15"/>
          <p:cNvSpPr/>
          <p:nvPr/>
        </p:nvSpPr>
        <p:spPr>
          <a:xfrm>
            <a:off x="12622220" y="4493047"/>
            <a:ext cx="1750048" cy="655919"/>
          </a:xfrm>
          <a:custGeom>
            <a:avLst/>
            <a:gdLst/>
            <a:ahLst/>
            <a:cxnLst/>
            <a:rect l="l" t="t" r="r" b="b"/>
            <a:pathLst>
              <a:path w="1750048" h="655919">
                <a:moveTo>
                  <a:pt x="0" y="0"/>
                </a:moveTo>
                <a:lnTo>
                  <a:pt x="1750048" y="0"/>
                </a:lnTo>
                <a:lnTo>
                  <a:pt x="1750048" y="655919"/>
                </a:lnTo>
                <a:lnTo>
                  <a:pt x="0" y="655919"/>
                </a:lnTo>
                <a:lnTo>
                  <a:pt x="0" y="0"/>
                </a:lnTo>
                <a:close/>
              </a:path>
            </a:pathLst>
          </a:custGeom>
          <a:blipFill>
            <a:blip r:embed="rId7"/>
            <a:stretch>
              <a:fillRect/>
            </a:stretch>
          </a:blipFill>
        </p:spPr>
      </p:sp>
      <p:sp>
        <p:nvSpPr>
          <p:cNvPr id="16" name="Freeform 16"/>
          <p:cNvSpPr/>
          <p:nvPr/>
        </p:nvSpPr>
        <p:spPr>
          <a:xfrm>
            <a:off x="14142574" y="4066699"/>
            <a:ext cx="3500096" cy="1727254"/>
          </a:xfrm>
          <a:custGeom>
            <a:avLst/>
            <a:gdLst/>
            <a:ahLst/>
            <a:cxnLst/>
            <a:rect l="l" t="t" r="r" b="b"/>
            <a:pathLst>
              <a:path w="3500096" h="1727254">
                <a:moveTo>
                  <a:pt x="0" y="0"/>
                </a:moveTo>
                <a:lnTo>
                  <a:pt x="3500096" y="0"/>
                </a:lnTo>
                <a:lnTo>
                  <a:pt x="3500096" y="1727254"/>
                </a:lnTo>
                <a:lnTo>
                  <a:pt x="0" y="1727254"/>
                </a:lnTo>
                <a:lnTo>
                  <a:pt x="0" y="0"/>
                </a:lnTo>
                <a:close/>
              </a:path>
            </a:pathLst>
          </a:custGeom>
          <a:blipFill>
            <a:blip r:embed="rId8"/>
            <a:stretch>
              <a:fillRect/>
            </a:stretch>
          </a:blipFill>
        </p:spPr>
      </p:sp>
      <p:sp>
        <p:nvSpPr>
          <p:cNvPr id="17" name="TextBox 17"/>
          <p:cNvSpPr txBox="1"/>
          <p:nvPr/>
        </p:nvSpPr>
        <p:spPr>
          <a:xfrm>
            <a:off x="14947048" y="4529308"/>
            <a:ext cx="1954348" cy="723460"/>
          </a:xfrm>
          <a:prstGeom prst="rect">
            <a:avLst/>
          </a:prstGeom>
        </p:spPr>
        <p:txBody>
          <a:bodyPr lIns="0" tIns="0" rIns="0" bIns="0" rtlCol="0" anchor="t">
            <a:spAutoFit/>
          </a:bodyPr>
          <a:lstStyle/>
          <a:p>
            <a:pPr algn="ctr">
              <a:lnSpc>
                <a:spcPts val="2858"/>
              </a:lnSpc>
            </a:pPr>
            <a:r>
              <a:rPr lang="en-US" sz="2381" b="1" spc="-47">
                <a:solidFill>
                  <a:srgbClr val="F6F6F6"/>
                </a:solidFill>
                <a:latin typeface="Inter Bold"/>
                <a:ea typeface="Inter Bold"/>
                <a:cs typeface="Inter Bold"/>
                <a:sym typeface="Inter Bold"/>
              </a:rPr>
              <a:t>KNOWLEDGE DOCUMENTS</a:t>
            </a:r>
          </a:p>
        </p:txBody>
      </p:sp>
      <p:sp>
        <p:nvSpPr>
          <p:cNvPr id="18" name="Freeform 18"/>
          <p:cNvSpPr/>
          <p:nvPr/>
        </p:nvSpPr>
        <p:spPr>
          <a:xfrm>
            <a:off x="8487732" y="5564382"/>
            <a:ext cx="2187560" cy="2153601"/>
          </a:xfrm>
          <a:custGeom>
            <a:avLst/>
            <a:gdLst/>
            <a:ahLst/>
            <a:cxnLst/>
            <a:rect l="l" t="t" r="r" b="b"/>
            <a:pathLst>
              <a:path w="2187560" h="2153601">
                <a:moveTo>
                  <a:pt x="0" y="0"/>
                </a:moveTo>
                <a:lnTo>
                  <a:pt x="2187560" y="0"/>
                </a:lnTo>
                <a:lnTo>
                  <a:pt x="2187560" y="2153601"/>
                </a:lnTo>
                <a:lnTo>
                  <a:pt x="0" y="2153601"/>
                </a:lnTo>
                <a:lnTo>
                  <a:pt x="0" y="0"/>
                </a:lnTo>
                <a:close/>
              </a:path>
            </a:pathLst>
          </a:custGeom>
          <a:blipFill>
            <a:blip r:embed="rId9"/>
            <a:stretch>
              <a:fillRect/>
            </a:stretch>
          </a:blipFill>
        </p:spPr>
      </p:sp>
      <p:sp>
        <p:nvSpPr>
          <p:cNvPr id="19" name="Freeform 19"/>
          <p:cNvSpPr/>
          <p:nvPr/>
        </p:nvSpPr>
        <p:spPr>
          <a:xfrm>
            <a:off x="11747196" y="5564382"/>
            <a:ext cx="2187560" cy="2153601"/>
          </a:xfrm>
          <a:custGeom>
            <a:avLst/>
            <a:gdLst/>
            <a:ahLst/>
            <a:cxnLst/>
            <a:rect l="l" t="t" r="r" b="b"/>
            <a:pathLst>
              <a:path w="2187560" h="2153601">
                <a:moveTo>
                  <a:pt x="0" y="0"/>
                </a:moveTo>
                <a:lnTo>
                  <a:pt x="2187560" y="0"/>
                </a:lnTo>
                <a:lnTo>
                  <a:pt x="2187560" y="2153601"/>
                </a:lnTo>
                <a:lnTo>
                  <a:pt x="0" y="2153601"/>
                </a:lnTo>
                <a:lnTo>
                  <a:pt x="0" y="0"/>
                </a:lnTo>
                <a:close/>
              </a:path>
            </a:pathLst>
          </a:custGeom>
          <a:blipFill>
            <a:blip r:embed="rId10"/>
            <a:stretch>
              <a:fillRect/>
            </a:stretch>
          </a:blipFill>
        </p:spPr>
      </p:sp>
      <p:sp>
        <p:nvSpPr>
          <p:cNvPr id="20" name="Freeform 20"/>
          <p:cNvSpPr/>
          <p:nvPr/>
        </p:nvSpPr>
        <p:spPr>
          <a:xfrm>
            <a:off x="10008086" y="7925691"/>
            <a:ext cx="2406316" cy="655919"/>
          </a:xfrm>
          <a:custGeom>
            <a:avLst/>
            <a:gdLst/>
            <a:ahLst/>
            <a:cxnLst/>
            <a:rect l="l" t="t" r="r" b="b"/>
            <a:pathLst>
              <a:path w="2406316" h="655919">
                <a:moveTo>
                  <a:pt x="0" y="0"/>
                </a:moveTo>
                <a:lnTo>
                  <a:pt x="2406316" y="0"/>
                </a:lnTo>
                <a:lnTo>
                  <a:pt x="2406316" y="655919"/>
                </a:lnTo>
                <a:lnTo>
                  <a:pt x="0" y="655919"/>
                </a:lnTo>
                <a:lnTo>
                  <a:pt x="0" y="0"/>
                </a:lnTo>
                <a:close/>
              </a:path>
            </a:pathLst>
          </a:custGeom>
          <a:blipFill>
            <a:blip r:embed="rId11"/>
            <a:stretch>
              <a:fillRect/>
            </a:stretch>
          </a:blipFill>
        </p:spPr>
      </p:sp>
      <p:sp>
        <p:nvSpPr>
          <p:cNvPr id="21" name="Freeform 21"/>
          <p:cNvSpPr/>
          <p:nvPr/>
        </p:nvSpPr>
        <p:spPr>
          <a:xfrm>
            <a:off x="6956440" y="7499343"/>
            <a:ext cx="3281340" cy="1508614"/>
          </a:xfrm>
          <a:custGeom>
            <a:avLst/>
            <a:gdLst/>
            <a:ahLst/>
            <a:cxnLst/>
            <a:rect l="l" t="t" r="r" b="b"/>
            <a:pathLst>
              <a:path w="3281340" h="1508614">
                <a:moveTo>
                  <a:pt x="0" y="0"/>
                </a:moveTo>
                <a:lnTo>
                  <a:pt x="3281340" y="0"/>
                </a:lnTo>
                <a:lnTo>
                  <a:pt x="3281340" y="1508614"/>
                </a:lnTo>
                <a:lnTo>
                  <a:pt x="0" y="1508614"/>
                </a:lnTo>
                <a:lnTo>
                  <a:pt x="0" y="0"/>
                </a:lnTo>
                <a:close/>
              </a:path>
            </a:pathLst>
          </a:custGeom>
          <a:blipFill>
            <a:blip r:embed="rId12"/>
            <a:stretch>
              <a:fillRect/>
            </a:stretch>
          </a:blipFill>
        </p:spPr>
      </p:sp>
      <p:sp>
        <p:nvSpPr>
          <p:cNvPr id="22" name="TextBox 22"/>
          <p:cNvSpPr txBox="1"/>
          <p:nvPr/>
        </p:nvSpPr>
        <p:spPr>
          <a:xfrm>
            <a:off x="7556675" y="8039083"/>
            <a:ext cx="2001110" cy="392631"/>
          </a:xfrm>
          <a:prstGeom prst="rect">
            <a:avLst/>
          </a:prstGeom>
        </p:spPr>
        <p:txBody>
          <a:bodyPr lIns="0" tIns="0" rIns="0" bIns="0" rtlCol="0" anchor="t">
            <a:spAutoFit/>
          </a:bodyPr>
          <a:lstStyle/>
          <a:p>
            <a:pPr algn="ctr">
              <a:lnSpc>
                <a:spcPts val="3122"/>
              </a:lnSpc>
            </a:pPr>
            <a:r>
              <a:rPr lang="en-US" sz="2601" b="1" spc="-52">
                <a:solidFill>
                  <a:srgbClr val="F6F6F6"/>
                </a:solidFill>
                <a:latin typeface="Inter Bold"/>
                <a:ea typeface="Inter Bold"/>
                <a:cs typeface="Inter Bold"/>
                <a:sym typeface="Inter Bold"/>
              </a:rPr>
              <a:t>EMPLOYEES</a:t>
            </a:r>
          </a:p>
        </p:txBody>
      </p:sp>
      <p:sp>
        <p:nvSpPr>
          <p:cNvPr id="23" name="Freeform 23"/>
          <p:cNvSpPr/>
          <p:nvPr/>
        </p:nvSpPr>
        <p:spPr>
          <a:xfrm>
            <a:off x="12184708" y="7499343"/>
            <a:ext cx="3281340" cy="1508614"/>
          </a:xfrm>
          <a:custGeom>
            <a:avLst/>
            <a:gdLst/>
            <a:ahLst/>
            <a:cxnLst/>
            <a:rect l="l" t="t" r="r" b="b"/>
            <a:pathLst>
              <a:path w="3281340" h="1508614">
                <a:moveTo>
                  <a:pt x="0" y="0"/>
                </a:moveTo>
                <a:lnTo>
                  <a:pt x="3281340" y="0"/>
                </a:lnTo>
                <a:lnTo>
                  <a:pt x="3281340" y="1508614"/>
                </a:lnTo>
                <a:lnTo>
                  <a:pt x="0" y="1508614"/>
                </a:lnTo>
                <a:lnTo>
                  <a:pt x="0" y="0"/>
                </a:lnTo>
                <a:close/>
              </a:path>
            </a:pathLst>
          </a:custGeom>
          <a:blipFill>
            <a:blip r:embed="rId13"/>
            <a:stretch>
              <a:fillRect/>
            </a:stretch>
          </a:blipFill>
        </p:spPr>
      </p:sp>
      <p:sp>
        <p:nvSpPr>
          <p:cNvPr id="24" name="TextBox 24"/>
          <p:cNvSpPr txBox="1"/>
          <p:nvPr/>
        </p:nvSpPr>
        <p:spPr>
          <a:xfrm>
            <a:off x="13253990" y="8039083"/>
            <a:ext cx="1113150" cy="392631"/>
          </a:xfrm>
          <a:prstGeom prst="rect">
            <a:avLst/>
          </a:prstGeom>
        </p:spPr>
        <p:txBody>
          <a:bodyPr lIns="0" tIns="0" rIns="0" bIns="0" rtlCol="0" anchor="t">
            <a:spAutoFit/>
          </a:bodyPr>
          <a:lstStyle/>
          <a:p>
            <a:pPr algn="ctr">
              <a:lnSpc>
                <a:spcPts val="3122"/>
              </a:lnSpc>
            </a:pPr>
            <a:r>
              <a:rPr lang="en-US" sz="2601" b="1" spc="-52">
                <a:solidFill>
                  <a:srgbClr val="F6F6F6"/>
                </a:solidFill>
                <a:latin typeface="Inter Bold"/>
                <a:ea typeface="Inter Bold"/>
                <a:cs typeface="Inter Bold"/>
                <a:sym typeface="Inter Bold"/>
              </a:rPr>
              <a:t>TASKS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9351818" y="0"/>
            <a:ext cx="8936182" cy="5148966"/>
          </a:xfrm>
          <a:custGeom>
            <a:avLst/>
            <a:gdLst/>
            <a:ahLst/>
            <a:cxnLst/>
            <a:rect l="l" t="t" r="r" b="b"/>
            <a:pathLst>
              <a:path w="8936182" h="5148966">
                <a:moveTo>
                  <a:pt x="0" y="0"/>
                </a:moveTo>
                <a:lnTo>
                  <a:pt x="8936182" y="0"/>
                </a:lnTo>
                <a:lnTo>
                  <a:pt x="8936182" y="5148966"/>
                </a:lnTo>
                <a:lnTo>
                  <a:pt x="0" y="5148966"/>
                </a:lnTo>
                <a:lnTo>
                  <a:pt x="0" y="0"/>
                </a:lnTo>
                <a:close/>
              </a:path>
            </a:pathLst>
          </a:custGeom>
          <a:blipFill>
            <a:blip r:embed="rId3"/>
            <a:stretch>
              <a:fillRect/>
            </a:stretch>
          </a:blipFill>
        </p:spPr>
      </p:sp>
      <p:sp>
        <p:nvSpPr>
          <p:cNvPr id="4" name="TextBox 4"/>
          <p:cNvSpPr txBox="1"/>
          <p:nvPr/>
        </p:nvSpPr>
        <p:spPr>
          <a:xfrm>
            <a:off x="544323" y="882781"/>
            <a:ext cx="7182532" cy="2062555"/>
          </a:xfrm>
          <a:prstGeom prst="rect">
            <a:avLst/>
          </a:prstGeom>
        </p:spPr>
        <p:txBody>
          <a:bodyPr lIns="0" tIns="0" rIns="0" bIns="0" rtlCol="0" anchor="t">
            <a:spAutoFit/>
          </a:bodyPr>
          <a:lstStyle/>
          <a:p>
            <a:pPr algn="l">
              <a:lnSpc>
                <a:spcPts val="8141"/>
              </a:lnSpc>
            </a:pPr>
            <a:r>
              <a:rPr lang="en-US" sz="7403" b="1" spc="-444">
                <a:solidFill>
                  <a:srgbClr val="F6F6F6"/>
                </a:solidFill>
                <a:latin typeface="Inter Bold"/>
                <a:ea typeface="Inter Bold"/>
                <a:cs typeface="Inter Bold"/>
                <a:sym typeface="Inter Bold"/>
              </a:rPr>
              <a:t>Key Features and Technologies</a:t>
            </a:r>
          </a:p>
        </p:txBody>
      </p:sp>
      <p:sp>
        <p:nvSpPr>
          <p:cNvPr id="5" name="TextBox 5"/>
          <p:cNvSpPr txBox="1"/>
          <p:nvPr/>
        </p:nvSpPr>
        <p:spPr>
          <a:xfrm>
            <a:off x="612270" y="3246349"/>
            <a:ext cx="5745658" cy="937640"/>
          </a:xfrm>
          <a:prstGeom prst="rect">
            <a:avLst/>
          </a:prstGeom>
        </p:spPr>
        <p:txBody>
          <a:bodyPr lIns="0" tIns="0" rIns="0" bIns="0" rtlCol="0" anchor="t">
            <a:spAutoFit/>
          </a:bodyPr>
          <a:lstStyle/>
          <a:p>
            <a:pPr algn="l">
              <a:lnSpc>
                <a:spcPts val="3723"/>
              </a:lnSpc>
            </a:pPr>
            <a:r>
              <a:rPr lang="en-US" sz="3102" b="1" spc="-92">
                <a:solidFill>
                  <a:srgbClr val="68B0F0"/>
                </a:solidFill>
                <a:latin typeface="Inter Semi-Bold"/>
                <a:ea typeface="Inter Semi-Bold"/>
                <a:cs typeface="Inter Semi-Bold"/>
                <a:sym typeface="Inter Semi-Bold"/>
              </a:rPr>
              <a:t>Built for smarter consulting and data-driven decisions</a:t>
            </a:r>
          </a:p>
        </p:txBody>
      </p:sp>
      <p:sp>
        <p:nvSpPr>
          <p:cNvPr id="6" name="Freeform 6"/>
          <p:cNvSpPr/>
          <p:nvPr/>
        </p:nvSpPr>
        <p:spPr>
          <a:xfrm>
            <a:off x="645330" y="4493047"/>
            <a:ext cx="1323474" cy="229572"/>
          </a:xfrm>
          <a:custGeom>
            <a:avLst/>
            <a:gdLst/>
            <a:ahLst/>
            <a:cxnLst/>
            <a:rect l="l" t="t" r="r" b="b"/>
            <a:pathLst>
              <a:path w="1323474" h="229572">
                <a:moveTo>
                  <a:pt x="0" y="0"/>
                </a:moveTo>
                <a:lnTo>
                  <a:pt x="1323474" y="0"/>
                </a:lnTo>
                <a:lnTo>
                  <a:pt x="1323474" y="229571"/>
                </a:lnTo>
                <a:lnTo>
                  <a:pt x="0" y="229571"/>
                </a:lnTo>
                <a:lnTo>
                  <a:pt x="0" y="0"/>
                </a:lnTo>
                <a:close/>
              </a:path>
            </a:pathLst>
          </a:custGeom>
          <a:blipFill>
            <a:blip r:embed="rId4"/>
            <a:stretch>
              <a:fillRect/>
            </a:stretch>
          </a:blipFill>
        </p:spPr>
      </p:sp>
      <p:sp>
        <p:nvSpPr>
          <p:cNvPr id="7" name="Freeform 7"/>
          <p:cNvSpPr/>
          <p:nvPr/>
        </p:nvSpPr>
        <p:spPr>
          <a:xfrm>
            <a:off x="645330" y="4919394"/>
            <a:ext cx="7634584" cy="4733550"/>
          </a:xfrm>
          <a:custGeom>
            <a:avLst/>
            <a:gdLst/>
            <a:ahLst/>
            <a:cxnLst/>
            <a:rect l="l" t="t" r="r" b="b"/>
            <a:pathLst>
              <a:path w="7634584" h="4733550">
                <a:moveTo>
                  <a:pt x="0" y="0"/>
                </a:moveTo>
                <a:lnTo>
                  <a:pt x="7634584" y="0"/>
                </a:lnTo>
                <a:lnTo>
                  <a:pt x="7634584" y="4733551"/>
                </a:lnTo>
                <a:lnTo>
                  <a:pt x="0" y="4733551"/>
                </a:lnTo>
                <a:lnTo>
                  <a:pt x="0" y="0"/>
                </a:lnTo>
                <a:close/>
              </a:path>
            </a:pathLst>
          </a:custGeom>
          <a:blipFill>
            <a:blip r:embed="rId5"/>
            <a:stretch>
              <a:fillRect/>
            </a:stretch>
          </a:blipFill>
        </p:spPr>
      </p:sp>
      <p:sp>
        <p:nvSpPr>
          <p:cNvPr id="8" name="Freeform 8"/>
          <p:cNvSpPr/>
          <p:nvPr/>
        </p:nvSpPr>
        <p:spPr>
          <a:xfrm>
            <a:off x="1301598" y="5356674"/>
            <a:ext cx="3489158" cy="644987"/>
          </a:xfrm>
          <a:custGeom>
            <a:avLst/>
            <a:gdLst/>
            <a:ahLst/>
            <a:cxnLst/>
            <a:rect l="l" t="t" r="r" b="b"/>
            <a:pathLst>
              <a:path w="3489158" h="644987">
                <a:moveTo>
                  <a:pt x="0" y="0"/>
                </a:moveTo>
                <a:lnTo>
                  <a:pt x="3489158" y="0"/>
                </a:lnTo>
                <a:lnTo>
                  <a:pt x="3489158" y="644987"/>
                </a:lnTo>
                <a:lnTo>
                  <a:pt x="0" y="644987"/>
                </a:lnTo>
                <a:lnTo>
                  <a:pt x="0" y="0"/>
                </a:lnTo>
                <a:close/>
              </a:path>
            </a:pathLst>
          </a:custGeom>
          <a:blipFill>
            <a:blip r:embed="rId6"/>
            <a:stretch>
              <a:fillRect/>
            </a:stretch>
          </a:blipFill>
        </p:spPr>
      </p:sp>
      <p:sp>
        <p:nvSpPr>
          <p:cNvPr id="9" name="TextBox 9"/>
          <p:cNvSpPr txBox="1"/>
          <p:nvPr/>
        </p:nvSpPr>
        <p:spPr>
          <a:xfrm>
            <a:off x="2236039" y="5495752"/>
            <a:ext cx="1803527" cy="298226"/>
          </a:xfrm>
          <a:prstGeom prst="rect">
            <a:avLst/>
          </a:prstGeom>
        </p:spPr>
        <p:txBody>
          <a:bodyPr lIns="0" tIns="0" rIns="0" bIns="0" rtlCol="0" anchor="t">
            <a:spAutoFit/>
          </a:bodyPr>
          <a:lstStyle/>
          <a:p>
            <a:pPr algn="ctr">
              <a:lnSpc>
                <a:spcPts val="2490"/>
              </a:lnSpc>
            </a:pPr>
            <a:r>
              <a:rPr lang="en-US" sz="1916" b="1" spc="-57">
                <a:solidFill>
                  <a:srgbClr val="0F2243"/>
                </a:solidFill>
                <a:latin typeface="Inter Bold"/>
                <a:ea typeface="Inter Bold"/>
                <a:cs typeface="Inter Bold"/>
                <a:sym typeface="Inter Bold"/>
              </a:rPr>
              <a:t>KEY FEATURES</a:t>
            </a:r>
          </a:p>
        </p:txBody>
      </p:sp>
      <p:sp>
        <p:nvSpPr>
          <p:cNvPr id="10" name="TextBox 10"/>
          <p:cNvSpPr txBox="1"/>
          <p:nvPr/>
        </p:nvSpPr>
        <p:spPr>
          <a:xfrm>
            <a:off x="1339453" y="6149582"/>
            <a:ext cx="6375797" cy="374015"/>
          </a:xfrm>
          <a:prstGeom prst="rect">
            <a:avLst/>
          </a:prstGeom>
        </p:spPr>
        <p:txBody>
          <a:bodyPr lIns="0" tIns="0" rIns="0" bIns="0" rtlCol="0" anchor="t">
            <a:spAutoFit/>
          </a:bodyPr>
          <a:lstStyle/>
          <a:p>
            <a:pPr algn="l">
              <a:lnSpc>
                <a:spcPts val="3017"/>
              </a:lnSpc>
            </a:pPr>
            <a:r>
              <a:rPr lang="en-US" sz="2321" spc="-69">
                <a:solidFill>
                  <a:srgbClr val="FFFFFF">
                    <a:alpha val="84706"/>
                  </a:srgbClr>
                </a:solidFill>
                <a:latin typeface="Inter"/>
                <a:ea typeface="Inter"/>
                <a:cs typeface="Inter"/>
                <a:sym typeface="Inter"/>
              </a:rPr>
              <a:t>Centralized client/project dashboards</a:t>
            </a:r>
          </a:p>
        </p:txBody>
      </p:sp>
      <p:sp>
        <p:nvSpPr>
          <p:cNvPr id="11" name="TextBox 11"/>
          <p:cNvSpPr txBox="1"/>
          <p:nvPr/>
        </p:nvSpPr>
        <p:spPr>
          <a:xfrm>
            <a:off x="1339453" y="6812259"/>
            <a:ext cx="6375797" cy="374015"/>
          </a:xfrm>
          <a:prstGeom prst="rect">
            <a:avLst/>
          </a:prstGeom>
        </p:spPr>
        <p:txBody>
          <a:bodyPr lIns="0" tIns="0" rIns="0" bIns="0" rtlCol="0" anchor="t">
            <a:spAutoFit/>
          </a:bodyPr>
          <a:lstStyle/>
          <a:p>
            <a:pPr algn="l">
              <a:lnSpc>
                <a:spcPts val="3017"/>
              </a:lnSpc>
            </a:pPr>
            <a:r>
              <a:rPr lang="en-US" sz="2321" spc="-69">
                <a:solidFill>
                  <a:srgbClr val="FFFFFF">
                    <a:alpha val="84706"/>
                  </a:srgbClr>
                </a:solidFill>
                <a:latin typeface="Inter"/>
                <a:ea typeface="Inter"/>
                <a:cs typeface="Inter"/>
                <a:sym typeface="Inter"/>
              </a:rPr>
              <a:t>Knowledge base with search functionality</a:t>
            </a:r>
          </a:p>
        </p:txBody>
      </p:sp>
      <p:sp>
        <p:nvSpPr>
          <p:cNvPr id="12" name="TextBox 12"/>
          <p:cNvSpPr txBox="1"/>
          <p:nvPr/>
        </p:nvSpPr>
        <p:spPr>
          <a:xfrm>
            <a:off x="1339453" y="7474936"/>
            <a:ext cx="6375797" cy="374015"/>
          </a:xfrm>
          <a:prstGeom prst="rect">
            <a:avLst/>
          </a:prstGeom>
        </p:spPr>
        <p:txBody>
          <a:bodyPr lIns="0" tIns="0" rIns="0" bIns="0" rtlCol="0" anchor="t">
            <a:spAutoFit/>
          </a:bodyPr>
          <a:lstStyle/>
          <a:p>
            <a:pPr algn="l">
              <a:lnSpc>
                <a:spcPts val="3017"/>
              </a:lnSpc>
            </a:pPr>
            <a:r>
              <a:rPr lang="en-US" sz="2321" spc="-69">
                <a:solidFill>
                  <a:srgbClr val="FFFFFF">
                    <a:alpha val="84706"/>
                  </a:srgbClr>
                </a:solidFill>
                <a:latin typeface="Inter"/>
                <a:ea typeface="Inter"/>
                <a:cs typeface="Inter"/>
                <a:sym typeface="Inter"/>
              </a:rPr>
              <a:t>Task management and notifications</a:t>
            </a:r>
          </a:p>
        </p:txBody>
      </p:sp>
      <p:sp>
        <p:nvSpPr>
          <p:cNvPr id="13" name="TextBox 13"/>
          <p:cNvSpPr txBox="1"/>
          <p:nvPr/>
        </p:nvSpPr>
        <p:spPr>
          <a:xfrm>
            <a:off x="1339453" y="8131262"/>
            <a:ext cx="4098727" cy="794908"/>
          </a:xfrm>
          <a:prstGeom prst="rect">
            <a:avLst/>
          </a:prstGeom>
        </p:spPr>
        <p:txBody>
          <a:bodyPr lIns="0" tIns="0" rIns="0" bIns="0" rtlCol="0" anchor="t">
            <a:spAutoFit/>
          </a:bodyPr>
          <a:lstStyle/>
          <a:p>
            <a:pPr algn="l">
              <a:lnSpc>
                <a:spcPts val="3282"/>
              </a:lnSpc>
            </a:pPr>
            <a:r>
              <a:rPr lang="en-US" sz="2188" spc="-65">
                <a:solidFill>
                  <a:srgbClr val="FFFFFF">
                    <a:alpha val="84706"/>
                  </a:srgbClr>
                </a:solidFill>
                <a:latin typeface="Inter"/>
                <a:ea typeface="Inter"/>
                <a:cs typeface="Inter"/>
                <a:sym typeface="Inter"/>
              </a:rPr>
              <a:t>Analytics for project progress and decision support (planned)</a:t>
            </a:r>
          </a:p>
        </p:txBody>
      </p:sp>
      <p:sp>
        <p:nvSpPr>
          <p:cNvPr id="14" name="Freeform 14"/>
          <p:cNvSpPr/>
          <p:nvPr/>
        </p:nvSpPr>
        <p:spPr>
          <a:xfrm>
            <a:off x="7612708" y="7062064"/>
            <a:ext cx="2187560" cy="448211"/>
          </a:xfrm>
          <a:custGeom>
            <a:avLst/>
            <a:gdLst/>
            <a:ahLst/>
            <a:cxnLst/>
            <a:rect l="l" t="t" r="r" b="b"/>
            <a:pathLst>
              <a:path w="2187560" h="448211">
                <a:moveTo>
                  <a:pt x="0" y="0"/>
                </a:moveTo>
                <a:lnTo>
                  <a:pt x="2187560" y="0"/>
                </a:lnTo>
                <a:lnTo>
                  <a:pt x="2187560" y="448211"/>
                </a:lnTo>
                <a:lnTo>
                  <a:pt x="0" y="448211"/>
                </a:lnTo>
                <a:lnTo>
                  <a:pt x="0" y="0"/>
                </a:lnTo>
                <a:close/>
              </a:path>
            </a:pathLst>
          </a:custGeom>
          <a:blipFill>
            <a:blip r:embed="rId7"/>
            <a:stretch>
              <a:fillRect/>
            </a:stretch>
          </a:blipFill>
        </p:spPr>
      </p:sp>
      <p:sp>
        <p:nvSpPr>
          <p:cNvPr id="15" name="Freeform 15"/>
          <p:cNvSpPr/>
          <p:nvPr/>
        </p:nvSpPr>
        <p:spPr>
          <a:xfrm>
            <a:off x="9351818" y="4919394"/>
            <a:ext cx="7634584" cy="4733550"/>
          </a:xfrm>
          <a:custGeom>
            <a:avLst/>
            <a:gdLst/>
            <a:ahLst/>
            <a:cxnLst/>
            <a:rect l="l" t="t" r="r" b="b"/>
            <a:pathLst>
              <a:path w="7634584" h="4733550">
                <a:moveTo>
                  <a:pt x="0" y="0"/>
                </a:moveTo>
                <a:lnTo>
                  <a:pt x="7634584" y="0"/>
                </a:lnTo>
                <a:lnTo>
                  <a:pt x="7634584" y="4733551"/>
                </a:lnTo>
                <a:lnTo>
                  <a:pt x="0" y="4733551"/>
                </a:lnTo>
                <a:lnTo>
                  <a:pt x="0" y="0"/>
                </a:lnTo>
                <a:close/>
              </a:path>
            </a:pathLst>
          </a:custGeom>
          <a:blipFill>
            <a:blip r:embed="rId8"/>
            <a:stretch>
              <a:fillRect/>
            </a:stretch>
          </a:blipFill>
        </p:spPr>
      </p:sp>
      <p:sp>
        <p:nvSpPr>
          <p:cNvPr id="16" name="Freeform 16"/>
          <p:cNvSpPr/>
          <p:nvPr/>
        </p:nvSpPr>
        <p:spPr>
          <a:xfrm>
            <a:off x="10008086" y="5356674"/>
            <a:ext cx="3707914" cy="644987"/>
          </a:xfrm>
          <a:custGeom>
            <a:avLst/>
            <a:gdLst/>
            <a:ahLst/>
            <a:cxnLst/>
            <a:rect l="l" t="t" r="r" b="b"/>
            <a:pathLst>
              <a:path w="3707914" h="644987">
                <a:moveTo>
                  <a:pt x="0" y="0"/>
                </a:moveTo>
                <a:lnTo>
                  <a:pt x="3707914" y="0"/>
                </a:lnTo>
                <a:lnTo>
                  <a:pt x="3707914" y="644987"/>
                </a:lnTo>
                <a:lnTo>
                  <a:pt x="0" y="644987"/>
                </a:lnTo>
                <a:lnTo>
                  <a:pt x="0" y="0"/>
                </a:lnTo>
                <a:close/>
              </a:path>
            </a:pathLst>
          </a:custGeom>
          <a:blipFill>
            <a:blip r:embed="rId9"/>
            <a:stretch>
              <a:fillRect/>
            </a:stretch>
          </a:blipFill>
        </p:spPr>
      </p:sp>
      <p:sp>
        <p:nvSpPr>
          <p:cNvPr id="17" name="TextBox 17"/>
          <p:cNvSpPr txBox="1"/>
          <p:nvPr/>
        </p:nvSpPr>
        <p:spPr>
          <a:xfrm>
            <a:off x="10542922" y="5495752"/>
            <a:ext cx="2602651" cy="298226"/>
          </a:xfrm>
          <a:prstGeom prst="rect">
            <a:avLst/>
          </a:prstGeom>
        </p:spPr>
        <p:txBody>
          <a:bodyPr lIns="0" tIns="0" rIns="0" bIns="0" rtlCol="0" anchor="t">
            <a:spAutoFit/>
          </a:bodyPr>
          <a:lstStyle/>
          <a:p>
            <a:pPr algn="ctr">
              <a:lnSpc>
                <a:spcPts val="2490"/>
              </a:lnSpc>
            </a:pPr>
            <a:r>
              <a:rPr lang="en-US" sz="1916" b="1" spc="-57">
                <a:solidFill>
                  <a:srgbClr val="0F2243"/>
                </a:solidFill>
                <a:latin typeface="Inter Bold"/>
                <a:ea typeface="Inter Bold"/>
                <a:cs typeface="Inter Bold"/>
                <a:sym typeface="Inter Bold"/>
              </a:rPr>
              <a:t>TECHNOLOGY STACK</a:t>
            </a:r>
          </a:p>
        </p:txBody>
      </p:sp>
      <p:sp>
        <p:nvSpPr>
          <p:cNvPr id="18" name="TextBox 18"/>
          <p:cNvSpPr txBox="1"/>
          <p:nvPr/>
        </p:nvSpPr>
        <p:spPr>
          <a:xfrm>
            <a:off x="9986493" y="6661122"/>
            <a:ext cx="5940510" cy="323931"/>
          </a:xfrm>
          <a:prstGeom prst="rect">
            <a:avLst/>
          </a:prstGeom>
        </p:spPr>
        <p:txBody>
          <a:bodyPr lIns="0" tIns="0" rIns="0" bIns="0" rtlCol="0" anchor="t">
            <a:spAutoFit/>
          </a:bodyPr>
          <a:lstStyle/>
          <a:p>
            <a:pPr algn="l">
              <a:lnSpc>
                <a:spcPts val="2661"/>
              </a:lnSpc>
            </a:pPr>
            <a:r>
              <a:rPr lang="en-US" sz="2047" spc="-60">
                <a:solidFill>
                  <a:srgbClr val="FFFFFF">
                    <a:alpha val="84706"/>
                  </a:srgbClr>
                </a:solidFill>
                <a:latin typeface="Inter"/>
                <a:ea typeface="Inter"/>
                <a:cs typeface="Inter"/>
                <a:sym typeface="Inter"/>
              </a:rPr>
              <a:t>Backend: Node.js with Express or Java Spring Boot</a:t>
            </a:r>
          </a:p>
        </p:txBody>
      </p:sp>
      <p:sp>
        <p:nvSpPr>
          <p:cNvPr id="19" name="TextBox 19"/>
          <p:cNvSpPr txBox="1"/>
          <p:nvPr/>
        </p:nvSpPr>
        <p:spPr>
          <a:xfrm>
            <a:off x="9993652" y="7203312"/>
            <a:ext cx="5224597" cy="645229"/>
          </a:xfrm>
          <a:prstGeom prst="rect">
            <a:avLst/>
          </a:prstGeom>
        </p:spPr>
        <p:txBody>
          <a:bodyPr lIns="0" tIns="0" rIns="0" bIns="0" rtlCol="0" anchor="t">
            <a:spAutoFit/>
          </a:bodyPr>
          <a:lstStyle/>
          <a:p>
            <a:pPr algn="l">
              <a:lnSpc>
                <a:spcPts val="2661"/>
              </a:lnSpc>
            </a:pPr>
            <a:r>
              <a:rPr lang="en-US" sz="2047" spc="-60">
                <a:solidFill>
                  <a:srgbClr val="FFFFFF">
                    <a:alpha val="84706"/>
                  </a:srgbClr>
                </a:solidFill>
                <a:latin typeface="Inter"/>
                <a:ea typeface="Inter"/>
                <a:cs typeface="Inter"/>
                <a:sym typeface="Inter"/>
              </a:rPr>
              <a:t>Database: PostgreSQL or MongoDB</a:t>
            </a:r>
          </a:p>
          <a:p>
            <a:pPr algn="l">
              <a:lnSpc>
                <a:spcPts val="2661"/>
              </a:lnSpc>
            </a:pPr>
            <a:r>
              <a:rPr lang="en-US" sz="2047" spc="-60">
                <a:solidFill>
                  <a:srgbClr val="FFFFFF">
                    <a:alpha val="84706"/>
                  </a:srgbClr>
                </a:solidFill>
                <a:latin typeface="Inter"/>
                <a:ea typeface="Inter"/>
                <a:cs typeface="Inter"/>
                <a:sym typeface="Inter"/>
              </a:rPr>
              <a:t>(depending on relational or document needs)</a:t>
            </a:r>
          </a:p>
        </p:txBody>
      </p:sp>
      <p:sp>
        <p:nvSpPr>
          <p:cNvPr id="20" name="TextBox 20"/>
          <p:cNvSpPr txBox="1"/>
          <p:nvPr/>
        </p:nvSpPr>
        <p:spPr>
          <a:xfrm>
            <a:off x="9989838" y="8076841"/>
            <a:ext cx="5606024" cy="323931"/>
          </a:xfrm>
          <a:prstGeom prst="rect">
            <a:avLst/>
          </a:prstGeom>
        </p:spPr>
        <p:txBody>
          <a:bodyPr lIns="0" tIns="0" rIns="0" bIns="0" rtlCol="0" anchor="t">
            <a:spAutoFit/>
          </a:bodyPr>
          <a:lstStyle/>
          <a:p>
            <a:pPr algn="l">
              <a:lnSpc>
                <a:spcPts val="2661"/>
              </a:lnSpc>
            </a:pPr>
            <a:r>
              <a:rPr lang="en-US" sz="2047" spc="-60">
                <a:solidFill>
                  <a:srgbClr val="FFFFFF">
                    <a:alpha val="84706"/>
                  </a:srgbClr>
                </a:solidFill>
                <a:latin typeface="Inter"/>
                <a:ea typeface="Inter"/>
                <a:cs typeface="Inter"/>
                <a:sym typeface="Inter"/>
              </a:rPr>
              <a:t>Analytics: Python with Pandas/NumPy (planned)</a:t>
            </a:r>
          </a:p>
        </p:txBody>
      </p:sp>
      <p:sp>
        <p:nvSpPr>
          <p:cNvPr id="21" name="TextBox 21"/>
          <p:cNvSpPr txBox="1"/>
          <p:nvPr/>
        </p:nvSpPr>
        <p:spPr>
          <a:xfrm>
            <a:off x="10005655" y="8619032"/>
            <a:ext cx="4024297" cy="645229"/>
          </a:xfrm>
          <a:prstGeom prst="rect">
            <a:avLst/>
          </a:prstGeom>
        </p:spPr>
        <p:txBody>
          <a:bodyPr lIns="0" tIns="0" rIns="0" bIns="0" rtlCol="0" anchor="t">
            <a:spAutoFit/>
          </a:bodyPr>
          <a:lstStyle/>
          <a:p>
            <a:pPr algn="l">
              <a:lnSpc>
                <a:spcPts val="2661"/>
              </a:lnSpc>
            </a:pPr>
            <a:r>
              <a:rPr lang="en-US" sz="2047" spc="-60">
                <a:solidFill>
                  <a:srgbClr val="FFFFFF">
                    <a:alpha val="84706"/>
                  </a:srgbClr>
                </a:solidFill>
                <a:latin typeface="Inter"/>
                <a:ea typeface="Inter"/>
                <a:cs typeface="Inter"/>
                <a:sym typeface="Inter"/>
              </a:rPr>
              <a:t>Cloud hosting and containerization (Docker/Kubernetes planned)</a:t>
            </a:r>
          </a:p>
        </p:txBody>
      </p:sp>
      <p:sp>
        <p:nvSpPr>
          <p:cNvPr id="22" name="TextBox 22"/>
          <p:cNvSpPr txBox="1"/>
          <p:nvPr/>
        </p:nvSpPr>
        <p:spPr>
          <a:xfrm>
            <a:off x="10012215" y="6118932"/>
            <a:ext cx="3368312" cy="323931"/>
          </a:xfrm>
          <a:prstGeom prst="rect">
            <a:avLst/>
          </a:prstGeom>
        </p:spPr>
        <p:txBody>
          <a:bodyPr lIns="0" tIns="0" rIns="0" bIns="0" rtlCol="0" anchor="t">
            <a:spAutoFit/>
          </a:bodyPr>
          <a:lstStyle/>
          <a:p>
            <a:pPr algn="l">
              <a:lnSpc>
                <a:spcPts val="2661"/>
              </a:lnSpc>
            </a:pPr>
            <a:r>
              <a:rPr lang="en-US" sz="2047" spc="-60">
                <a:solidFill>
                  <a:srgbClr val="FFFFFF">
                    <a:alpha val="84706"/>
                  </a:srgbClr>
                </a:solidFill>
                <a:latin typeface="Inter"/>
                <a:ea typeface="Inter"/>
                <a:cs typeface="Inter"/>
                <a:sym typeface="Inter"/>
              </a:rPr>
              <a:t>Frontend: React.js or Angular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56671" y="1055539"/>
            <a:ext cx="8626607" cy="2123711"/>
          </a:xfrm>
          <a:prstGeom prst="rect">
            <a:avLst/>
          </a:prstGeom>
        </p:spPr>
        <p:txBody>
          <a:bodyPr lIns="0" tIns="0" rIns="0" bIns="0" rtlCol="0" anchor="t">
            <a:spAutoFit/>
          </a:bodyPr>
          <a:lstStyle/>
          <a:p>
            <a:pPr algn="l">
              <a:lnSpc>
                <a:spcPts val="8403"/>
              </a:lnSpc>
            </a:pPr>
            <a:r>
              <a:rPr lang="en-US" sz="7304" b="1" spc="-292">
                <a:solidFill>
                  <a:srgbClr val="F6F6F6"/>
                </a:solidFill>
                <a:latin typeface="Inter Bold"/>
                <a:ea typeface="Inter Bold"/>
                <a:cs typeface="Inter Bold"/>
                <a:sym typeface="Inter Bold"/>
              </a:rPr>
              <a:t>Expected Outcomes and Future Scope</a:t>
            </a:r>
          </a:p>
        </p:txBody>
      </p:sp>
      <p:sp>
        <p:nvSpPr>
          <p:cNvPr id="4" name="Freeform 4"/>
          <p:cNvSpPr/>
          <p:nvPr/>
        </p:nvSpPr>
        <p:spPr>
          <a:xfrm>
            <a:off x="645330" y="3421712"/>
            <a:ext cx="1323474" cy="229572"/>
          </a:xfrm>
          <a:custGeom>
            <a:avLst/>
            <a:gdLst/>
            <a:ahLst/>
            <a:cxnLst/>
            <a:rect l="l" t="t" r="r" b="b"/>
            <a:pathLst>
              <a:path w="1323474" h="229572">
                <a:moveTo>
                  <a:pt x="0" y="0"/>
                </a:moveTo>
                <a:lnTo>
                  <a:pt x="1323474" y="0"/>
                </a:lnTo>
                <a:lnTo>
                  <a:pt x="1323474" y="229572"/>
                </a:lnTo>
                <a:lnTo>
                  <a:pt x="0" y="229572"/>
                </a:lnTo>
                <a:lnTo>
                  <a:pt x="0" y="0"/>
                </a:lnTo>
                <a:close/>
              </a:path>
            </a:pathLst>
          </a:custGeom>
          <a:blipFill>
            <a:blip r:embed="rId3"/>
            <a:stretch>
              <a:fillRect/>
            </a:stretch>
          </a:blipFill>
        </p:spPr>
      </p:sp>
      <p:sp>
        <p:nvSpPr>
          <p:cNvPr id="5" name="TextBox 5"/>
          <p:cNvSpPr txBox="1"/>
          <p:nvPr/>
        </p:nvSpPr>
        <p:spPr>
          <a:xfrm>
            <a:off x="632187" y="4905522"/>
            <a:ext cx="3753914" cy="835447"/>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Improved efficiency in client and project handling</a:t>
            </a:r>
          </a:p>
        </p:txBody>
      </p:sp>
      <p:sp>
        <p:nvSpPr>
          <p:cNvPr id="6" name="TextBox 6"/>
          <p:cNvSpPr txBox="1"/>
          <p:nvPr/>
        </p:nvSpPr>
        <p:spPr>
          <a:xfrm>
            <a:off x="632429" y="6321241"/>
            <a:ext cx="3729753" cy="835447"/>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Better collaboration through knowledge sharing</a:t>
            </a:r>
          </a:p>
        </p:txBody>
      </p:sp>
      <p:sp>
        <p:nvSpPr>
          <p:cNvPr id="7" name="TextBox 7"/>
          <p:cNvSpPr txBox="1"/>
          <p:nvPr/>
        </p:nvSpPr>
        <p:spPr>
          <a:xfrm>
            <a:off x="638313" y="7782142"/>
            <a:ext cx="3141380" cy="835447"/>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Data-driven insights for</a:t>
            </a:r>
          </a:p>
          <a:p>
            <a:pPr algn="l">
              <a:lnSpc>
                <a:spcPts val="3467"/>
              </a:lnSpc>
            </a:pPr>
            <a:r>
              <a:rPr lang="en-US" sz="2311" b="1" spc="-92">
                <a:solidFill>
                  <a:srgbClr val="D9D9D9"/>
                </a:solidFill>
                <a:latin typeface="Inter Semi-Bold"/>
                <a:ea typeface="Inter Semi-Bold"/>
                <a:cs typeface="Inter Semi-Bold"/>
                <a:sym typeface="Inter Semi-Bold"/>
              </a:rPr>
              <a:t>faculty and evaluators</a:t>
            </a:r>
          </a:p>
        </p:txBody>
      </p:sp>
      <p:sp>
        <p:nvSpPr>
          <p:cNvPr id="8" name="Freeform 8"/>
          <p:cNvSpPr/>
          <p:nvPr/>
        </p:nvSpPr>
        <p:spPr>
          <a:xfrm>
            <a:off x="4998574" y="4066699"/>
            <a:ext cx="229694" cy="4941258"/>
          </a:xfrm>
          <a:custGeom>
            <a:avLst/>
            <a:gdLst/>
            <a:ahLst/>
            <a:cxnLst/>
            <a:rect l="l" t="t" r="r" b="b"/>
            <a:pathLst>
              <a:path w="229694" h="4941258">
                <a:moveTo>
                  <a:pt x="0" y="0"/>
                </a:moveTo>
                <a:lnTo>
                  <a:pt x="229694" y="0"/>
                </a:lnTo>
                <a:lnTo>
                  <a:pt x="229694" y="4941258"/>
                </a:lnTo>
                <a:lnTo>
                  <a:pt x="0" y="4941258"/>
                </a:lnTo>
                <a:lnTo>
                  <a:pt x="0" y="0"/>
                </a:lnTo>
                <a:close/>
              </a:path>
            </a:pathLst>
          </a:custGeom>
          <a:blipFill>
            <a:blip r:embed="rId4"/>
            <a:stretch>
              <a:fillRect/>
            </a:stretch>
          </a:blipFill>
        </p:spPr>
      </p:sp>
      <p:sp>
        <p:nvSpPr>
          <p:cNvPr id="9" name="TextBox 9"/>
          <p:cNvSpPr txBox="1"/>
          <p:nvPr/>
        </p:nvSpPr>
        <p:spPr>
          <a:xfrm>
            <a:off x="5568330" y="4905522"/>
            <a:ext cx="3058380" cy="835447"/>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AI-powered consulting recommendations</a:t>
            </a:r>
          </a:p>
        </p:txBody>
      </p:sp>
      <p:sp>
        <p:nvSpPr>
          <p:cNvPr id="10" name="TextBox 10"/>
          <p:cNvSpPr txBox="1"/>
          <p:nvPr/>
        </p:nvSpPr>
        <p:spPr>
          <a:xfrm>
            <a:off x="5566906" y="6125450"/>
            <a:ext cx="3200837" cy="835447"/>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Advanced analytics and reporting dashboards</a:t>
            </a:r>
          </a:p>
        </p:txBody>
      </p:sp>
      <p:sp>
        <p:nvSpPr>
          <p:cNvPr id="11" name="TextBox 11"/>
          <p:cNvSpPr txBox="1"/>
          <p:nvPr/>
        </p:nvSpPr>
        <p:spPr>
          <a:xfrm>
            <a:off x="5566689" y="8128542"/>
            <a:ext cx="3222468" cy="835447"/>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Integration with external academic systems</a:t>
            </a:r>
          </a:p>
        </p:txBody>
      </p:sp>
      <p:sp>
        <p:nvSpPr>
          <p:cNvPr id="12" name="TextBox 12"/>
          <p:cNvSpPr txBox="1"/>
          <p:nvPr/>
        </p:nvSpPr>
        <p:spPr>
          <a:xfrm>
            <a:off x="5555236" y="7360439"/>
            <a:ext cx="4367792" cy="407050"/>
          </a:xfrm>
          <a:prstGeom prst="rect">
            <a:avLst/>
          </a:prstGeom>
        </p:spPr>
        <p:txBody>
          <a:bodyPr lIns="0" tIns="0" rIns="0" bIns="0" rtlCol="0" anchor="t">
            <a:spAutoFit/>
          </a:bodyPr>
          <a:lstStyle/>
          <a:p>
            <a:pPr algn="l">
              <a:lnSpc>
                <a:spcPts val="3467"/>
              </a:lnSpc>
            </a:pPr>
            <a:r>
              <a:rPr lang="en-US" sz="2311" b="1" spc="-92">
                <a:solidFill>
                  <a:srgbClr val="D9D9D9"/>
                </a:solidFill>
                <a:latin typeface="Inter Semi-Bold"/>
                <a:ea typeface="Inter Semi-Bold"/>
                <a:cs typeface="Inter Semi-Bold"/>
                <a:sym typeface="Inter Semi-Bold"/>
              </a:rPr>
              <a:t>Mobile app for on-the-go access</a:t>
            </a:r>
          </a:p>
        </p:txBody>
      </p:sp>
      <p:sp>
        <p:nvSpPr>
          <p:cNvPr id="13" name="TextBox 13"/>
          <p:cNvSpPr txBox="1"/>
          <p:nvPr/>
        </p:nvSpPr>
        <p:spPr>
          <a:xfrm>
            <a:off x="5566425" y="4167541"/>
            <a:ext cx="3248889" cy="407050"/>
          </a:xfrm>
          <a:prstGeom prst="rect">
            <a:avLst/>
          </a:prstGeom>
        </p:spPr>
        <p:txBody>
          <a:bodyPr lIns="0" tIns="0" rIns="0" bIns="0" rtlCol="0" anchor="t">
            <a:spAutoFit/>
          </a:bodyPr>
          <a:lstStyle/>
          <a:p>
            <a:pPr algn="l">
              <a:lnSpc>
                <a:spcPts val="3467"/>
              </a:lnSpc>
            </a:pPr>
            <a:r>
              <a:rPr lang="en-US" sz="2311" b="1" spc="-92">
                <a:solidFill>
                  <a:srgbClr val="5FA6E6"/>
                </a:solidFill>
                <a:latin typeface="Inter Bold"/>
                <a:ea typeface="Inter Bold"/>
                <a:cs typeface="Inter Bold"/>
                <a:sym typeface="Inter Bold"/>
              </a:rPr>
              <a:t>WHERE WE’RE HEADED</a:t>
            </a:r>
          </a:p>
        </p:txBody>
      </p:sp>
      <p:sp>
        <p:nvSpPr>
          <p:cNvPr id="14" name="TextBox 14"/>
          <p:cNvSpPr txBox="1"/>
          <p:nvPr/>
        </p:nvSpPr>
        <p:spPr>
          <a:xfrm>
            <a:off x="642063" y="4167541"/>
            <a:ext cx="2766360" cy="407050"/>
          </a:xfrm>
          <a:prstGeom prst="rect">
            <a:avLst/>
          </a:prstGeom>
        </p:spPr>
        <p:txBody>
          <a:bodyPr lIns="0" tIns="0" rIns="0" bIns="0" rtlCol="0" anchor="t">
            <a:spAutoFit/>
          </a:bodyPr>
          <a:lstStyle/>
          <a:p>
            <a:pPr algn="l">
              <a:lnSpc>
                <a:spcPts val="3467"/>
              </a:lnSpc>
            </a:pPr>
            <a:r>
              <a:rPr lang="en-US" sz="2311" b="1" spc="-92">
                <a:solidFill>
                  <a:srgbClr val="5FA6E6"/>
                </a:solidFill>
                <a:latin typeface="Inter Bold"/>
                <a:ea typeface="Inter Bold"/>
                <a:cs typeface="Inter Bold"/>
                <a:sym typeface="Inter Bold"/>
              </a:rPr>
              <a:t>WHAT WE ACHIEVE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746746" y="1141745"/>
            <a:ext cx="5692619" cy="2270893"/>
          </a:xfrm>
          <a:prstGeom prst="rect">
            <a:avLst/>
          </a:prstGeom>
        </p:spPr>
        <p:txBody>
          <a:bodyPr lIns="0" tIns="0" rIns="0" bIns="0" rtlCol="0" anchor="t">
            <a:spAutoFit/>
          </a:bodyPr>
          <a:lstStyle/>
          <a:p>
            <a:pPr algn="l">
              <a:lnSpc>
                <a:spcPts val="8800"/>
              </a:lnSpc>
            </a:pPr>
            <a:r>
              <a:rPr lang="en-US" sz="8461" b="1" spc="-252">
                <a:solidFill>
                  <a:srgbClr val="FFFFFF"/>
                </a:solidFill>
                <a:latin typeface="Inter Bold"/>
                <a:ea typeface="Inter Bold"/>
                <a:cs typeface="Inter Bold"/>
                <a:sym typeface="Inter Bold"/>
              </a:rPr>
              <a:t>Conclusion and Q&amp;A</a:t>
            </a:r>
          </a:p>
        </p:txBody>
      </p:sp>
      <p:sp>
        <p:nvSpPr>
          <p:cNvPr id="4" name="Freeform 4"/>
          <p:cNvSpPr/>
          <p:nvPr/>
        </p:nvSpPr>
        <p:spPr>
          <a:xfrm>
            <a:off x="645330" y="3640352"/>
            <a:ext cx="1323474" cy="218640"/>
          </a:xfrm>
          <a:custGeom>
            <a:avLst/>
            <a:gdLst/>
            <a:ahLst/>
            <a:cxnLst/>
            <a:rect l="l" t="t" r="r" b="b"/>
            <a:pathLst>
              <a:path w="1323474" h="218640">
                <a:moveTo>
                  <a:pt x="0" y="0"/>
                </a:moveTo>
                <a:lnTo>
                  <a:pt x="1323474" y="0"/>
                </a:lnTo>
                <a:lnTo>
                  <a:pt x="1323474" y="218639"/>
                </a:lnTo>
                <a:lnTo>
                  <a:pt x="0" y="218639"/>
                </a:lnTo>
                <a:lnTo>
                  <a:pt x="0" y="0"/>
                </a:lnTo>
                <a:close/>
              </a:path>
            </a:pathLst>
          </a:custGeom>
          <a:blipFill>
            <a:blip r:embed="rId3"/>
            <a:stretch>
              <a:fillRect/>
            </a:stretch>
          </a:blipFill>
        </p:spPr>
      </p:sp>
      <p:sp>
        <p:nvSpPr>
          <p:cNvPr id="5" name="TextBox 5"/>
          <p:cNvSpPr txBox="1"/>
          <p:nvPr/>
        </p:nvSpPr>
        <p:spPr>
          <a:xfrm>
            <a:off x="739174" y="4130815"/>
            <a:ext cx="6449754" cy="817048"/>
          </a:xfrm>
          <a:prstGeom prst="rect">
            <a:avLst/>
          </a:prstGeom>
        </p:spPr>
        <p:txBody>
          <a:bodyPr lIns="0" tIns="0" rIns="0" bIns="0" rtlCol="0" anchor="t">
            <a:spAutoFit/>
          </a:bodyPr>
          <a:lstStyle/>
          <a:p>
            <a:pPr algn="l">
              <a:lnSpc>
                <a:spcPts val="3347"/>
              </a:lnSpc>
            </a:pPr>
            <a:r>
              <a:rPr lang="en-US" sz="2575" spc="-51">
                <a:solidFill>
                  <a:srgbClr val="FFFFFF">
                    <a:alpha val="84706"/>
                  </a:srgbClr>
                </a:solidFill>
                <a:latin typeface="Inter"/>
                <a:ea typeface="Inter"/>
                <a:cs typeface="Inter"/>
                <a:sym typeface="Inter"/>
              </a:rPr>
              <a:t>A unified platform for smarter management and stronger decision support</a:t>
            </a:r>
          </a:p>
        </p:txBody>
      </p:sp>
      <p:sp>
        <p:nvSpPr>
          <p:cNvPr id="6" name="TextBox 6"/>
          <p:cNvSpPr txBox="1"/>
          <p:nvPr/>
        </p:nvSpPr>
        <p:spPr>
          <a:xfrm>
            <a:off x="747519" y="5170013"/>
            <a:ext cx="5615299" cy="406500"/>
          </a:xfrm>
          <a:prstGeom prst="rect">
            <a:avLst/>
          </a:prstGeom>
        </p:spPr>
        <p:txBody>
          <a:bodyPr lIns="0" tIns="0" rIns="0" bIns="0" rtlCol="0" anchor="t">
            <a:spAutoFit/>
          </a:bodyPr>
          <a:lstStyle/>
          <a:p>
            <a:pPr algn="l">
              <a:lnSpc>
                <a:spcPts val="3347"/>
              </a:lnSpc>
            </a:pPr>
            <a:r>
              <a:rPr lang="en-US" sz="2575" spc="-51">
                <a:solidFill>
                  <a:srgbClr val="FFFFFF">
                    <a:alpha val="84706"/>
                  </a:srgbClr>
                </a:solidFill>
                <a:latin typeface="Inter"/>
                <a:ea typeface="Inter"/>
                <a:cs typeface="Inter"/>
                <a:sym typeface="Inter"/>
              </a:rPr>
              <a:t>Built for today, </a:t>
            </a:r>
            <a:r>
              <a:rPr lang="en-US" sz="2575" b="1" spc="-51">
                <a:solidFill>
                  <a:srgbClr val="43A0F6">
                    <a:alpha val="84706"/>
                  </a:srgbClr>
                </a:solidFill>
                <a:latin typeface="Inter Semi-Bold"/>
                <a:ea typeface="Inter Semi-Bold"/>
                <a:cs typeface="Inter Semi-Bold"/>
                <a:sym typeface="Inter Semi-Bold"/>
              </a:rPr>
              <a:t>evolving for tomorrow</a:t>
            </a:r>
          </a:p>
        </p:txBody>
      </p:sp>
      <p:sp>
        <p:nvSpPr>
          <p:cNvPr id="7" name="TextBox 7"/>
          <p:cNvSpPr txBox="1"/>
          <p:nvPr/>
        </p:nvSpPr>
        <p:spPr>
          <a:xfrm>
            <a:off x="741471" y="5742325"/>
            <a:ext cx="6220113" cy="406500"/>
          </a:xfrm>
          <a:prstGeom prst="rect">
            <a:avLst/>
          </a:prstGeom>
        </p:spPr>
        <p:txBody>
          <a:bodyPr lIns="0" tIns="0" rIns="0" bIns="0" rtlCol="0" anchor="t">
            <a:spAutoFit/>
          </a:bodyPr>
          <a:lstStyle/>
          <a:p>
            <a:pPr algn="l">
              <a:lnSpc>
                <a:spcPts val="3347"/>
              </a:lnSpc>
            </a:pPr>
            <a:r>
              <a:rPr lang="en-US" sz="2575" spc="-51">
                <a:solidFill>
                  <a:srgbClr val="FFFFFF">
                    <a:alpha val="84706"/>
                  </a:srgbClr>
                </a:solidFill>
                <a:latin typeface="Inter"/>
                <a:ea typeface="Inter"/>
                <a:cs typeface="Inter"/>
                <a:sym typeface="Inter"/>
              </a:rPr>
              <a:t>Roadmap features will drive future impact</a:t>
            </a:r>
          </a:p>
        </p:txBody>
      </p:sp>
      <p:sp>
        <p:nvSpPr>
          <p:cNvPr id="8" name="TextBox 8"/>
          <p:cNvSpPr txBox="1"/>
          <p:nvPr/>
        </p:nvSpPr>
        <p:spPr>
          <a:xfrm>
            <a:off x="747243" y="6329698"/>
            <a:ext cx="5642896" cy="406500"/>
          </a:xfrm>
          <a:prstGeom prst="rect">
            <a:avLst/>
          </a:prstGeom>
        </p:spPr>
        <p:txBody>
          <a:bodyPr lIns="0" tIns="0" rIns="0" bIns="0" rtlCol="0" anchor="t">
            <a:spAutoFit/>
          </a:bodyPr>
          <a:lstStyle/>
          <a:p>
            <a:pPr algn="l">
              <a:lnSpc>
                <a:spcPts val="3347"/>
              </a:lnSpc>
            </a:pPr>
            <a:r>
              <a:rPr lang="en-US" sz="2575" b="1" spc="-51">
                <a:solidFill>
                  <a:srgbClr val="43A0F6">
                    <a:alpha val="84706"/>
                  </a:srgbClr>
                </a:solidFill>
                <a:latin typeface="Inter Semi-Bold"/>
                <a:ea typeface="Inter Semi-Bold"/>
                <a:cs typeface="Inter Semi-Bold"/>
                <a:sym typeface="Inter Semi-Bold"/>
              </a:rPr>
              <a:t>Thank you</a:t>
            </a:r>
            <a:r>
              <a:rPr lang="en-US" sz="2575" spc="-51">
                <a:solidFill>
                  <a:srgbClr val="FFFFFF">
                    <a:alpha val="84706"/>
                  </a:srgbClr>
                </a:solidFill>
                <a:latin typeface="Inter"/>
                <a:ea typeface="Inter"/>
                <a:cs typeface="Inter"/>
                <a:sym typeface="Inter"/>
              </a:rPr>
              <a:t> for your time and attention</a:t>
            </a:r>
          </a:p>
        </p:txBody>
      </p:sp>
      <p:sp>
        <p:nvSpPr>
          <p:cNvPr id="9" name="Freeform 9"/>
          <p:cNvSpPr/>
          <p:nvPr/>
        </p:nvSpPr>
        <p:spPr>
          <a:xfrm>
            <a:off x="645330" y="7062064"/>
            <a:ext cx="10467474" cy="2372241"/>
          </a:xfrm>
          <a:custGeom>
            <a:avLst/>
            <a:gdLst/>
            <a:ahLst/>
            <a:cxnLst/>
            <a:rect l="l" t="t" r="r" b="b"/>
            <a:pathLst>
              <a:path w="10467474" h="2372241">
                <a:moveTo>
                  <a:pt x="0" y="0"/>
                </a:moveTo>
                <a:lnTo>
                  <a:pt x="10467474" y="0"/>
                </a:lnTo>
                <a:lnTo>
                  <a:pt x="10467474" y="2372241"/>
                </a:lnTo>
                <a:lnTo>
                  <a:pt x="0" y="2372241"/>
                </a:lnTo>
                <a:lnTo>
                  <a:pt x="0" y="0"/>
                </a:lnTo>
                <a:close/>
              </a:path>
            </a:pathLst>
          </a:custGeom>
          <a:blipFill>
            <a:blip r:embed="rId4"/>
            <a:stretch>
              <a:fillRect/>
            </a:stretch>
          </a:blipFill>
        </p:spPr>
      </p:sp>
      <p:sp>
        <p:nvSpPr>
          <p:cNvPr id="10" name="TextBox 10"/>
          <p:cNvSpPr txBox="1"/>
          <p:nvPr/>
        </p:nvSpPr>
        <p:spPr>
          <a:xfrm>
            <a:off x="1095975" y="7472910"/>
            <a:ext cx="5595440" cy="1427869"/>
          </a:xfrm>
          <a:prstGeom prst="rect">
            <a:avLst/>
          </a:prstGeom>
        </p:spPr>
        <p:txBody>
          <a:bodyPr lIns="0" tIns="0" rIns="0" bIns="0" rtlCol="0" anchor="t">
            <a:spAutoFit/>
          </a:bodyPr>
          <a:lstStyle/>
          <a:p>
            <a:pPr algn="l">
              <a:lnSpc>
                <a:spcPts val="5764"/>
              </a:lnSpc>
            </a:pPr>
            <a:r>
              <a:rPr lang="en-US" sz="4803" b="1" spc="-143">
                <a:solidFill>
                  <a:srgbClr val="43A0F6"/>
                </a:solidFill>
                <a:latin typeface="Inter Bold"/>
                <a:ea typeface="Inter Bold"/>
                <a:cs typeface="Inter Bold"/>
                <a:sym typeface="Inter Bold"/>
              </a:rPr>
              <a:t>Questions and Feedback Welcome</a:t>
            </a:r>
          </a:p>
        </p:txBody>
      </p:sp>
      <p:sp>
        <p:nvSpPr>
          <p:cNvPr id="11" name="Freeform 11"/>
          <p:cNvSpPr/>
          <p:nvPr/>
        </p:nvSpPr>
        <p:spPr>
          <a:xfrm>
            <a:off x="7175196" y="7280704"/>
            <a:ext cx="229694" cy="1727254"/>
          </a:xfrm>
          <a:custGeom>
            <a:avLst/>
            <a:gdLst/>
            <a:ahLst/>
            <a:cxnLst/>
            <a:rect l="l" t="t" r="r" b="b"/>
            <a:pathLst>
              <a:path w="229694" h="1727254">
                <a:moveTo>
                  <a:pt x="0" y="0"/>
                </a:moveTo>
                <a:lnTo>
                  <a:pt x="229694" y="0"/>
                </a:lnTo>
                <a:lnTo>
                  <a:pt x="229694" y="1727253"/>
                </a:lnTo>
                <a:lnTo>
                  <a:pt x="0" y="1727253"/>
                </a:lnTo>
                <a:lnTo>
                  <a:pt x="0" y="0"/>
                </a:lnTo>
                <a:close/>
              </a:path>
            </a:pathLst>
          </a:custGeom>
          <a:blipFill>
            <a:blip r:embed="rId5"/>
            <a:stretch>
              <a:fillRect/>
            </a:stretch>
          </a:blipFill>
        </p:spPr>
      </p:sp>
      <p:sp>
        <p:nvSpPr>
          <p:cNvPr id="12" name="TextBox 12"/>
          <p:cNvSpPr txBox="1"/>
          <p:nvPr/>
        </p:nvSpPr>
        <p:spPr>
          <a:xfrm>
            <a:off x="7823419" y="7570351"/>
            <a:ext cx="2577597" cy="1184684"/>
          </a:xfrm>
          <a:prstGeom prst="rect">
            <a:avLst/>
          </a:prstGeom>
        </p:spPr>
        <p:txBody>
          <a:bodyPr lIns="0" tIns="0" rIns="0" bIns="0" rtlCol="0" anchor="t">
            <a:spAutoFit/>
          </a:bodyPr>
          <a:lstStyle/>
          <a:p>
            <a:pPr algn="l">
              <a:lnSpc>
                <a:spcPts val="3232"/>
              </a:lnSpc>
            </a:pPr>
            <a:r>
              <a:rPr lang="en-US" sz="2487" spc="-49">
                <a:solidFill>
                  <a:srgbClr val="FFFFFF">
                    <a:alpha val="84706"/>
                  </a:srgbClr>
                </a:solidFill>
                <a:latin typeface="Inter"/>
                <a:ea typeface="Inter"/>
                <a:cs typeface="Inter"/>
                <a:sym typeface="Inter"/>
              </a:rPr>
              <a:t>We welcome your questions, ideas, and suggestions.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575</Words>
  <Application>Microsoft Office PowerPoint</Application>
  <PresentationFormat>Custom</PresentationFormat>
  <Paragraphs>124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Inter Bold</vt:lpstr>
      <vt:lpstr>Inter Semi-Bold</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Consulting Intelligence</dc:title>
  <cp:lastModifiedBy>Vinnu R</cp:lastModifiedBy>
  <cp:revision>3</cp:revision>
  <dcterms:created xsi:type="dcterms:W3CDTF">2006-08-16T00:00:00Z</dcterms:created>
  <dcterms:modified xsi:type="dcterms:W3CDTF">2026-10-12T04:42:46Z</dcterms:modified>
  <dc:identifier>DAHXr7ou7O0</dc:identifier>
</cp:coreProperties>
</file>